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323" r:id="rId9"/>
    <p:sldId id="270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7E5"/>
    <a:srgbClr val="D8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Juan Silva Sepúlveda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Matías Reuque Barros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Juan Silva Sepúlveda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 err="1"/>
            <a:t>Product</a:t>
          </a:r>
          <a:r>
            <a:rPr lang="es-MX" sz="3700" kern="1200" dirty="0"/>
            <a:t> </a:t>
          </a:r>
          <a:r>
            <a:rPr lang="es-MX" sz="3700" kern="1200" dirty="0" err="1"/>
            <a:t>Owner</a:t>
          </a:r>
          <a:endParaRPr lang="es-CL" sz="37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Matías Reuque Barros</a:t>
          </a:r>
          <a:endParaRPr lang="es-CL" sz="48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700" kern="1200" dirty="0"/>
            <a:t>Scrum Master</a:t>
          </a:r>
          <a:endParaRPr lang="es-CL" sz="37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4000" r="-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54140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833977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858575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25693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02672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545665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534479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4972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414864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181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480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39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360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57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2988206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8531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453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ransition spd="slow">
    <p:wip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524484" y="2111805"/>
            <a:ext cx="4335468" cy="2084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PROYECTO SERVIHOGAR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accent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PRESENTACIÓN FASE 1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8" y="3154273"/>
            <a:ext cx="3280613" cy="82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11275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361801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Logo de DuocUC Escuela de Informática y Telecomunicaciones con fondo transparente">
            <a:extLst>
              <a:ext uri="{FF2B5EF4-FFF2-40B4-BE49-F238E27FC236}">
                <a16:creationId xmlns:a16="http://schemas.microsoft.com/office/drawing/2014/main" id="{5BC367C9-A3AB-E4F4-3E75-DCA134476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19758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  <a:endParaRPr lang="es-MX" u="sng" dirty="0"/>
          </a:p>
          <a:p>
            <a:pPr algn="just"/>
            <a:r>
              <a:rPr lang="es-ES" dirty="0"/>
              <a:t>La contratación de servicios del hogar en Chile es mayoritariamente informal: no hay verificación clara de trabajadores, los precios son poco transparentes y tanto clientes como trabajadores tienen baja confianza y visibilidad.</a:t>
            </a:r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/>
            <a:r>
              <a:rPr lang="es-ES" dirty="0" err="1"/>
              <a:t>ServiHogar</a:t>
            </a:r>
            <a:r>
              <a:rPr lang="es-ES" dirty="0"/>
              <a:t> es una plataforma web que conecta clientes con trabajadores verificados, ofreciendo precios por servicio, reservas, y un sistema de calificaciones que asegura confianza y trazabilidad del servicio.</a:t>
            </a:r>
            <a:endParaRPr lang="es-MX" u="sng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3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-3" y="369467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una plataforma web que conecte a clientes con profesionales verificados de servicios para el hogar, automatizando reservas, evaluaciones e incorporando Inteligencia de Negocios para gestionar y hacer crecer el negocio.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275909"/>
            <a:ext cx="10962967" cy="20317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s-ES" sz="1600" dirty="0"/>
              <a:t>Lograr al menos 500 profesionales verificados, 500 clientes activos y 1.000 servicios gestionados en las regiones priorizadas.​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Mantener calificación promedio mayor a 4,5 estrellas y al menos 92% de servicios completados.​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Reducir en 40% la gestión manual gracias a la automatización de reservas, verificaciones y notificaciones.​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Utilizar el módulo de Inteligencia de Negocios para monitorear métricas clave y apoyar decisiones de mejora y expansión durante el primer año.​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84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740143" y="1432655"/>
            <a:ext cx="269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3311CD-16D6-D722-7962-4D5DF881B096}"/>
              </a:ext>
            </a:extLst>
          </p:cNvPr>
          <p:cNvSpPr txBox="1"/>
          <p:nvPr/>
        </p:nvSpPr>
        <p:spPr>
          <a:xfrm>
            <a:off x="1601890" y="2078986"/>
            <a:ext cx="8987733" cy="452431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/>
            <a:r>
              <a:rPr lang="es-ES" sz="1600" dirty="0"/>
              <a:t>Plataforma web responsiva para gestionar servicios del hogar entre clientes y trabajadores verificados en la región Metropolitana, Chile.​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Cobertura inicial de tres servicios: gasfitería﻿, limpieza del hogar﻿ y jardinería﻿, con precio, disponibilidad y documentación configurables por cada uno.​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Flujo completo digital: registro y autenticación, verificación de antecedentes, búsqueda y reserva y sistema de reseñas.​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Panel administrativo con módulo de Inteligencia de Negocios para monitorear usuarios, servicios, ingresos, calidad y alertas operativas.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Solo versión web adaptable; no se desarrollan aplicaciones móviles nativas Android/iOS en esta fase.​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Enfoque exclusivo en el mercado chileno, sin multilenguaje ni soporte internacional.​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No incluye chat en tiempo real, campañas de correo automatizadas ni motores de recomendación basados en inteligencia artificial.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No incluye sistema de pagos, el pago del servicio será presencial (efectivo o transferencia).</a:t>
            </a:r>
            <a:endParaRPr lang="es-CL" sz="1600" dirty="0"/>
          </a:p>
          <a:p>
            <a:endParaRPr lang="es-CL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AF8EF1D-5CEF-6C44-5BB3-7E99539DEE39}"/>
              </a:ext>
            </a:extLst>
          </p:cNvPr>
          <p:cNvSpPr txBox="1"/>
          <p:nvPr/>
        </p:nvSpPr>
        <p:spPr>
          <a:xfrm>
            <a:off x="6941173" y="1432655"/>
            <a:ext cx="296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Limitaciones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496389" y="141063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08992C-868A-909F-9CFB-86D74E48B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0D44F8C-4DBE-4B7E-A098-FC4CC299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11" y="3106783"/>
            <a:ext cx="6179278" cy="306932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7C1A00-A50A-1211-8B6C-4B29322C6709}"/>
              </a:ext>
            </a:extLst>
          </p:cNvPr>
          <p:cNvSpPr txBox="1"/>
          <p:nvPr/>
        </p:nvSpPr>
        <p:spPr>
          <a:xfrm>
            <a:off x="4175760" y="2084292"/>
            <a:ext cx="4833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Utilizamos Scrum, un enfoque ágil que organiza el trabajo en </a:t>
            </a:r>
            <a:r>
              <a:rPr lang="es-ES" dirty="0" err="1"/>
              <a:t>Sprints</a:t>
            </a:r>
            <a:r>
              <a:rPr lang="es-ES" dirty="0"/>
              <a:t> cortos para planificar, desarrollar y revisar incrementos del producto de forma iterativa y adaptable a cambios.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6239362" y="1107188"/>
            <a:ext cx="402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81F9-04BF-7344-7C5C-DF34794A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176E707-81E3-6979-7B2A-ACB9BCC7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7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FC5496-E3AA-7E97-E15B-014C307E7E50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72DF29C-05DA-D047-93C3-9504FC317D6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4007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SERVIHOGAR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EF714B-4D66-0941-9376-A9E021414953}"/>
              </a:ext>
            </a:extLst>
          </p:cNvPr>
          <p:cNvSpPr txBox="1"/>
          <p:nvPr/>
        </p:nvSpPr>
        <p:spPr>
          <a:xfrm>
            <a:off x="2633205" y="2318606"/>
            <a:ext cx="3462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Backend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Python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Django (Framework)</a:t>
            </a:r>
          </a:p>
          <a:p>
            <a:pPr fontAlgn="base"/>
            <a:r>
              <a:rPr lang="es-CL" b="1" dirty="0"/>
              <a:t>Base de Datos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PostgreSQL (Gestor de data)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B3F51B-9A10-A6F1-39FD-86DEF295F4A9}"/>
              </a:ext>
            </a:extLst>
          </p:cNvPr>
          <p:cNvSpPr txBox="1"/>
          <p:nvPr/>
        </p:nvSpPr>
        <p:spPr>
          <a:xfrm>
            <a:off x="6232187" y="2317543"/>
            <a:ext cx="3869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Frontend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JavaScript/</a:t>
            </a:r>
            <a:r>
              <a:rPr lang="es-CL" dirty="0" err="1"/>
              <a:t>TypeScript</a:t>
            </a:r>
            <a:r>
              <a:rPr lang="es-CL" dirty="0"/>
              <a:t>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(Framework)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</a:t>
            </a:r>
            <a:r>
              <a:rPr lang="es-CL" dirty="0" err="1"/>
              <a:t>Router</a:t>
            </a:r>
            <a:endParaRPr lang="es-CL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Tailwind</a:t>
            </a:r>
            <a:r>
              <a:rPr lang="es-CL" dirty="0"/>
              <a:t> CSS (Biblioteca)</a:t>
            </a:r>
          </a:p>
          <a:p>
            <a:pPr fontAlgn="base"/>
            <a:r>
              <a:rPr lang="es-CL" b="1" dirty="0" err="1"/>
              <a:t>Deployment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Docker (Contenedores)</a:t>
            </a:r>
          </a:p>
        </p:txBody>
      </p:sp>
      <p:sp>
        <p:nvSpPr>
          <p:cNvPr id="8" name="AutoShape 2" descr="Django Icon Vector SVG Icon - SVG Repo">
            <a:extLst>
              <a:ext uri="{FF2B5EF4-FFF2-40B4-BE49-F238E27FC236}">
                <a16:creationId xmlns:a16="http://schemas.microsoft.com/office/drawing/2014/main" id="{6E1DB2D0-49DA-43E5-F31A-BDFC6839A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8" name="Picture 4" descr="Django Python programación informática lenguaje de programación software,  logo de Python, texto, logo png | PNGEgg">
            <a:extLst>
              <a:ext uri="{FF2B5EF4-FFF2-40B4-BE49-F238E27FC236}">
                <a16:creationId xmlns:a16="http://schemas.microsoft.com/office/drawing/2014/main" id="{EC875DF6-0A72-F164-DC9B-FB5887F92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46" b="92241" l="7184" r="93391">
                        <a14:foregroundMark x1="49425" y1="29310" x2="49425" y2="29310"/>
                        <a14:foregroundMark x1="44540" y1="18966" x2="16667" y2="45115"/>
                        <a14:foregroundMark x1="16667" y1="45115" x2="17241" y2="67529"/>
                        <a14:foregroundMark x1="17241" y1="67529" x2="39368" y2="79310"/>
                        <a14:foregroundMark x1="39368" y1="79310" x2="59195" y2="83046"/>
                        <a14:foregroundMark x1="59195" y1="83046" x2="77299" y2="45977"/>
                        <a14:foregroundMark x1="77299" y1="45977" x2="75287" y2="19540"/>
                        <a14:foregroundMark x1="75287" y1="19540" x2="50575" y2="12069"/>
                        <a14:foregroundMark x1="50575" y1="12069" x2="30172" y2="17529"/>
                        <a14:foregroundMark x1="30172" y1="17529" x2="27586" y2="21552"/>
                        <a14:foregroundMark x1="76149" y1="50000" x2="62644" y2="82759"/>
                        <a14:foregroundMark x1="62644" y1="82759" x2="45690" y2="75575"/>
                        <a14:foregroundMark x1="45690" y1="75575" x2="46552" y2="36782"/>
                        <a14:foregroundMark x1="46552" y1="36782" x2="52299" y2="20690"/>
                        <a14:foregroundMark x1="52299" y1="20690" x2="72126" y2="40230"/>
                        <a14:foregroundMark x1="38218" y1="25575" x2="25000" y2="34195"/>
                        <a14:foregroundMark x1="25000" y1="34195" x2="16379" y2="61782"/>
                        <a14:foregroundMark x1="16379" y1="61782" x2="37356" y2="72989"/>
                        <a14:foregroundMark x1="37356" y1="72989" x2="47989" y2="48851"/>
                        <a14:foregroundMark x1="47989" y1="48851" x2="31322" y2="35057"/>
                        <a14:foregroundMark x1="31322" y1="35057" x2="20690" y2="34483"/>
                        <a14:foregroundMark x1="32759" y1="38793" x2="22701" y2="50000"/>
                        <a14:foregroundMark x1="22701" y1="50000" x2="24425" y2="74713"/>
                        <a14:foregroundMark x1="24425" y1="74713" x2="45115" y2="46552"/>
                        <a14:foregroundMark x1="45115" y1="46552" x2="26724" y2="34483"/>
                        <a14:foregroundMark x1="26724" y1="34483" x2="17529" y2="40517"/>
                        <a14:foregroundMark x1="56897" y1="32471" x2="50000" y2="49138"/>
                        <a14:foregroundMark x1="50000" y1="49138" x2="68966" y2="68391"/>
                        <a14:foregroundMark x1="68966" y1="68391" x2="73563" y2="42529"/>
                        <a14:foregroundMark x1="73563" y1="42529" x2="50575" y2="39943"/>
                        <a14:foregroundMark x1="50575" y1="39943" x2="45115" y2="46552"/>
                        <a14:foregroundMark x1="7471" y1="44828" x2="7471" y2="44828"/>
                        <a14:foregroundMark x1="66667" y1="25575" x2="66667" y2="25575"/>
                        <a14:foregroundMark x1="46552" y1="8046" x2="46552" y2="8046"/>
                        <a14:foregroundMark x1="64655" y1="30460" x2="64655" y2="30460"/>
                        <a14:foregroundMark x1="63793" y1="52299" x2="63793" y2="52299"/>
                        <a14:foregroundMark x1="26437" y1="60057" x2="26437" y2="60057"/>
                        <a14:foregroundMark x1="61782" y1="46839" x2="61782" y2="46839"/>
                        <a14:foregroundMark x1="67529" y1="51724" x2="67529" y2="51724"/>
                        <a14:foregroundMark x1="65805" y1="61494" x2="65805" y2="61494"/>
                        <a14:foregroundMark x1="93391" y1="47414" x2="93391" y2="47414"/>
                        <a14:foregroundMark x1="27299" y1="55747" x2="27299" y2="55747"/>
                        <a14:foregroundMark x1="49713" y1="92241" x2="49713" y2="92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925" y="4712340"/>
            <a:ext cx="1143544" cy="11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3842B7-9FE9-7FEF-26E4-CC1856DD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994" y="4788914"/>
            <a:ext cx="1112820" cy="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128365E-1901-AB7E-C5F0-9358473DA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39" y="4708264"/>
            <a:ext cx="1112820" cy="114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cker, logo, logos icon - Free download on Iconfinder">
            <a:extLst>
              <a:ext uri="{FF2B5EF4-FFF2-40B4-BE49-F238E27FC236}">
                <a16:creationId xmlns:a16="http://schemas.microsoft.com/office/drawing/2014/main" id="{0B927B12-F222-7F2B-657C-6E3482490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779" y="4625867"/>
            <a:ext cx="1230017" cy="12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296" y="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65955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Consultas y/o comentarios</a:t>
            </a:r>
          </a:p>
        </p:txBody>
      </p:sp>
      <p:pic>
        <p:nvPicPr>
          <p:cNvPr id="2" name="2 Imagen" descr="foto_preguntas.jpg">
            <a:extLst>
              <a:ext uri="{FF2B5EF4-FFF2-40B4-BE49-F238E27FC236}">
                <a16:creationId xmlns:a16="http://schemas.microsoft.com/office/drawing/2014/main" id="{C07605C8-4819-D34A-D1F9-3A0FE832071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24436" y="35747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1261</TotalTime>
  <Words>470</Words>
  <Application>Microsoft Office PowerPoint</Application>
  <PresentationFormat>Panorámica</PresentationFormat>
  <Paragraphs>61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JUAN CRISTOPHER SILVA SEPULVEDA</cp:lastModifiedBy>
  <cp:revision>10</cp:revision>
  <dcterms:created xsi:type="dcterms:W3CDTF">2023-10-28T21:12:11Z</dcterms:created>
  <dcterms:modified xsi:type="dcterms:W3CDTF">2026-03-25T23:30:09Z</dcterms:modified>
</cp:coreProperties>
</file>