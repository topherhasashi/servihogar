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64" r:id="rId5"/>
    <p:sldId id="260" r:id="rId6"/>
    <p:sldId id="265" r:id="rId7"/>
    <p:sldId id="259" r:id="rId8"/>
    <p:sldId id="266" r:id="rId9"/>
    <p:sldId id="261" r:id="rId10"/>
    <p:sldId id="263" r:id="rId11"/>
  </p:sldIdLst>
  <p:sldSz cx="9144000" cy="5143500" type="screen16x9"/>
  <p:notesSz cx="6858000" cy="9144000"/>
  <p:embeddedFontLst>
    <p:embeddedFont>
      <p:font typeface="Maven Pro" panose="020B0604020202020204" charset="0"/>
      <p:regular r:id="rId13"/>
      <p:bold r:id="rId14"/>
    </p:embeddedFont>
    <p:embeddedFont>
      <p:font typeface="Nunito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43" userDrawn="1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4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4a8fed9d37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4a8fed9d37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4a8fed9d37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4a8fed9d37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>
          <a:extLst>
            <a:ext uri="{FF2B5EF4-FFF2-40B4-BE49-F238E27FC236}">
              <a16:creationId xmlns:a16="http://schemas.microsoft.com/office/drawing/2014/main" id="{7EB148DA-C52F-0E55-9C66-2AF3CCAF5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4a8fed9d37_0_175:notes">
            <a:extLst>
              <a:ext uri="{FF2B5EF4-FFF2-40B4-BE49-F238E27FC236}">
                <a16:creationId xmlns:a16="http://schemas.microsoft.com/office/drawing/2014/main" id="{13CB0132-B64C-16D6-5860-96F5F97278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4a8fed9d37_0_175:notes">
            <a:extLst>
              <a:ext uri="{FF2B5EF4-FFF2-40B4-BE49-F238E27FC236}">
                <a16:creationId xmlns:a16="http://schemas.microsoft.com/office/drawing/2014/main" id="{6DFE34DD-5C55-F8F6-9E56-9ACA2B690D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2754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4a8fed9d37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4a8fed9d37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4a8fed9d37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4a8fed9d37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4a8fed9d37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4a8fed9d37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4a8fed9d37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4a8fed9d37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gradFill flip="none" rotWithShape="1">
          <a:gsLst>
            <a:gs pos="0">
              <a:schemeClr val="tx2">
                <a:lumMod val="60000"/>
                <a:lumOff val="40000"/>
              </a:schemeClr>
            </a:gs>
            <a:gs pos="50000">
              <a:schemeClr val="tx2">
                <a:lumMod val="75000"/>
              </a:schemeClr>
            </a:gs>
            <a:gs pos="100000">
              <a:schemeClr val="tx2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microsoft.com/office/2007/relationships/hdphoto" Target="../media/hdphoto5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microsoft.com/office/2007/relationships/hdphoto" Target="../media/hdphoto4.wdp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microsoft.com/office/2007/relationships/hdphoto" Target="../media/hdphoto6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title"/>
          </p:nvPr>
        </p:nvSpPr>
        <p:spPr>
          <a:xfrm>
            <a:off x="1516727" y="1163552"/>
            <a:ext cx="3055273" cy="1872900"/>
          </a:xfrm>
          <a:prstGeom prst="rect">
            <a:avLst/>
          </a:prstGeom>
          <a:noFill/>
          <a:effectLst>
            <a:outerShdw blurRad="50800" dist="76200" dir="8100000" algn="tr" rotWithShape="0">
              <a:prstClr val="black">
                <a:alpha val="3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400" dirty="0">
                <a:solidFill>
                  <a:schemeClr val="accent1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ServiHogar</a:t>
            </a:r>
            <a:endParaRPr sz="4400" dirty="0">
              <a:solidFill>
                <a:schemeClr val="accent1"/>
              </a:solidFill>
              <a:latin typeface="Times New Roman" panose="02020603050405020304" pitchFamily="18" charset="0"/>
              <a:ea typeface="Merriweather"/>
              <a:cs typeface="Times New Roman" panose="02020603050405020304" pitchFamily="18" charset="0"/>
              <a:sym typeface="Merriweather"/>
            </a:endParaRPr>
          </a:p>
        </p:txBody>
      </p:sp>
      <p:sp>
        <p:nvSpPr>
          <p:cNvPr id="278" name="Google Shape;278;p13"/>
          <p:cNvSpPr txBox="1">
            <a:spLocks noGrp="1"/>
          </p:cNvSpPr>
          <p:nvPr>
            <p:ph type="subTitle" idx="4294967295"/>
          </p:nvPr>
        </p:nvSpPr>
        <p:spPr>
          <a:xfrm>
            <a:off x="4572000" y="3036452"/>
            <a:ext cx="3530600" cy="1362366"/>
          </a:xfrm>
          <a:prstGeom prst="rect">
            <a:avLst/>
          </a:prstGeom>
          <a:effectLst>
            <a:outerShdw blurRad="38100" dist="38100" dir="2700000" algn="tl" rotWithShape="0">
              <a:prstClr val="black">
                <a:alpha val="30000"/>
              </a:prstClr>
            </a:outerShdw>
          </a:effectLst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>
              <a:buNone/>
            </a:pPr>
            <a:r>
              <a:rPr lang="es" sz="4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Integrantes: 	Juan Silva </a:t>
            </a:r>
          </a:p>
          <a:p>
            <a:pPr marL="0" lvl="0" indent="0">
              <a:buNone/>
            </a:pPr>
            <a:r>
              <a:rPr lang="es" sz="4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Matías Reuque</a:t>
            </a:r>
            <a:endParaRPr sz="4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4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Docentes:	</a:t>
            </a:r>
            <a:r>
              <a:rPr lang="en-US" sz="4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Jazna Meza Hidalgo</a:t>
            </a:r>
            <a:endParaRPr sz="4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Juan Mellado Alarcon</a:t>
            </a:r>
            <a:endParaRPr sz="4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098" name="Picture 2" descr="casas logo vector illustration 4550083 Vector en Vecteezy">
            <a:extLst>
              <a:ext uri="{FF2B5EF4-FFF2-40B4-BE49-F238E27FC236}">
                <a16:creationId xmlns:a16="http://schemas.microsoft.com/office/drawing/2014/main" id="{61ACEE5F-37EF-9A58-A0C5-9996D474A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1958" y1="39694" x2="41958" y2="39694"/>
                        <a14:foregroundMark x1="47860" y1="38673" x2="47860" y2="38673"/>
                        <a14:foregroundMark x1="41958" y1="45612" x2="41958" y2="45612"/>
                        <a14:foregroundMark x1="47536" y1="46327" x2="47536" y2="46327"/>
                        <a14:foregroundMark x1="63684" y1="52347" x2="63684" y2="52347"/>
                        <a14:foregroundMark x1="68029" y1="51837" x2="68029" y2="51837"/>
                        <a14:foregroundMark x1="67445" y1="55918" x2="67445" y2="55918"/>
                        <a14:foregroundMark x1="63943" y1="57551" x2="63943" y2="57551"/>
                      </a14:backgroundRemoval>
                    </a14:imgEffect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4073" y="1171518"/>
            <a:ext cx="2653563" cy="16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</a:rPr>
              <a:t>Problemática del Caso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84" name="Google Shape;284;p14"/>
          <p:cNvSpPr txBox="1">
            <a:spLocks noGrp="1"/>
          </p:cNvSpPr>
          <p:nvPr>
            <p:ph type="body" idx="1"/>
          </p:nvPr>
        </p:nvSpPr>
        <p:spPr>
          <a:xfrm>
            <a:off x="1190975" y="1116150"/>
            <a:ext cx="6359752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>
                    <a:lumMod val="75000"/>
                  </a:schemeClr>
                </a:solidFill>
              </a:rPr>
              <a:t>Actualmente en Chile, encontrar servicios domésticos confiables representa un desafío tanto para usuarios como para trabajadores. La falta de plataformas formales obliga a muchos a recurrir a recomendaciones informales o a redes sociales poco seguras. Esto genera riesgos como fraudes, incumplimientos y falta de garantías laborales. 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  <a:p>
            <a:pPr marL="0" lvl="0" indent="0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 dirty="0">
                <a:solidFill>
                  <a:schemeClr val="accent1">
                    <a:lumMod val="75000"/>
                  </a:schemeClr>
                </a:solidFill>
              </a:rPr>
              <a:t>A pesar del aumento en la demanda de servicios domésticos tras la pandemia, el mercado sigue estando fragmentado y desorganizado. Existe una clara necesidad de una solución digital que formalice, agilice y profesionalice el acceso a estos servicios.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122" name="Picture 2" descr="Shinji depresivo by elmotas on DeviantArt">
            <a:extLst>
              <a:ext uri="{FF2B5EF4-FFF2-40B4-BE49-F238E27FC236}">
                <a16:creationId xmlns:a16="http://schemas.microsoft.com/office/drawing/2014/main" id="{83150DB8-A9F3-B3F4-4F48-FA781DA9B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782" y="3251851"/>
            <a:ext cx="1314518" cy="1550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>
            <a:spLocks noGrp="1"/>
          </p:cNvSpPr>
          <p:nvPr>
            <p:ph type="title"/>
          </p:nvPr>
        </p:nvSpPr>
        <p:spPr>
          <a:xfrm>
            <a:off x="1303800" y="432320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</a:rPr>
              <a:t>Propuesta de</a:t>
            </a:r>
            <a:r>
              <a:rPr lang="en-US" dirty="0">
                <a:solidFill>
                  <a:schemeClr val="accent1"/>
                </a:solidFill>
              </a:rPr>
              <a:t> Soluci</a:t>
            </a:r>
            <a:r>
              <a:rPr lang="es-CL" dirty="0">
                <a:solidFill>
                  <a:schemeClr val="accent1"/>
                </a:solidFill>
              </a:rPr>
              <a:t>ón</a:t>
            </a:r>
            <a:endParaRPr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0" name="Google Shape;290;p15"/>
          <p:cNvSpPr txBox="1">
            <a:spLocks noGrp="1"/>
          </p:cNvSpPr>
          <p:nvPr>
            <p:ph type="body" idx="1"/>
          </p:nvPr>
        </p:nvSpPr>
        <p:spPr>
          <a:xfrm>
            <a:off x="1303800" y="1300950"/>
            <a:ext cx="5713527" cy="2024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146050" indent="0">
              <a:buNone/>
            </a:pPr>
            <a:r>
              <a:rPr lang="es-CL" sz="1400" dirty="0">
                <a:solidFill>
                  <a:schemeClr val="accent1">
                    <a:lumMod val="75000"/>
                  </a:schemeClr>
                </a:solidFill>
              </a:rPr>
              <a:t>Este proyecto busca desarrollar una plataforma web que conecte a clientes con trabajadores independientes que ofrecen servicios en el hogar, organizando la información por regiones y comunas, y mostrando tarjetas de servicios con la información necesaria.</a:t>
            </a:r>
          </a:p>
          <a:p>
            <a:pPr marL="146050" indent="0">
              <a:buNone/>
            </a:pPr>
            <a:endParaRPr lang="es-CL" sz="1400" dirty="0">
              <a:solidFill>
                <a:schemeClr val="accent1">
                  <a:lumMod val="75000"/>
                </a:schemeClr>
              </a:solidFill>
            </a:endParaRPr>
          </a:p>
          <a:p>
            <a:pPr marL="146050" indent="0">
              <a:buNone/>
            </a:pPr>
            <a:r>
              <a:rPr lang="es-CL" sz="1400" dirty="0">
                <a:solidFill>
                  <a:schemeClr val="accent1">
                    <a:lumMod val="75000"/>
                  </a:schemeClr>
                </a:solidFill>
              </a:rPr>
              <a:t>Nuestra propuesta busca digitalizar y profesionalizar esta conexión, ofreciendo un espacio donde puedan crear un perfil, administrar su oferta de servicios y recibir contrataciones de forma directa y segura.</a:t>
            </a:r>
          </a:p>
          <a:p>
            <a:pPr marL="146050" indent="0">
              <a:buNone/>
            </a:pPr>
            <a:endParaRPr lang="es-CL" dirty="0"/>
          </a:p>
        </p:txBody>
      </p:sp>
      <p:pic>
        <p:nvPicPr>
          <p:cNvPr id="5124" name="Picture 4" descr="Personajes: FELIX, es el héroe y protagonista del videojuego Repara-Félix  Jr., donde su deber es reparar, con la ayuda de su... – @crazydreampanda on  Tumblr">
            <a:extLst>
              <a:ext uri="{FF2B5EF4-FFF2-40B4-BE49-F238E27FC236}">
                <a16:creationId xmlns:a16="http://schemas.microsoft.com/office/drawing/2014/main" id="{F6A92999-C880-DA01-37CA-2B6E515ED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719" b="93438" l="10000" r="90000">
                        <a14:foregroundMark x1="37500" y1="10625" x2="37500" y2="10625"/>
                        <a14:foregroundMark x1="34688" y1="6719" x2="34688" y2="6719"/>
                        <a14:foregroundMark x1="42344" y1="90781" x2="42344" y2="90781"/>
                        <a14:foregroundMark x1="60313" y1="91563" x2="60313" y2="91563"/>
                        <a14:foregroundMark x1="45156" y1="92813" x2="45156" y2="92813"/>
                        <a14:backgroundMark x1="61094" y1="93750" x2="61094" y2="93750"/>
                        <a14:backgroundMark x1="61250" y1="93438" x2="60781" y2="93438"/>
                        <a14:backgroundMark x1="45000" y1="93125" x2="45000" y2="93125"/>
                        <a14:backgroundMark x1="45313" y1="92813" x2="45313" y2="92813"/>
                        <a14:backgroundMark x1="48906" y1="73125" x2="48906" y2="73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959" y="2571750"/>
            <a:ext cx="2460914" cy="246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>
          <a:extLst>
            <a:ext uri="{FF2B5EF4-FFF2-40B4-BE49-F238E27FC236}">
              <a16:creationId xmlns:a16="http://schemas.microsoft.com/office/drawing/2014/main" id="{287BB652-D466-8EBC-E0C5-322049BEF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>
            <a:extLst>
              <a:ext uri="{FF2B5EF4-FFF2-40B4-BE49-F238E27FC236}">
                <a16:creationId xmlns:a16="http://schemas.microsoft.com/office/drawing/2014/main" id="{482200E9-35AD-4851-FA65-BF055ECDED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432320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</a:rPr>
              <a:t>Propuesta de</a:t>
            </a:r>
            <a:r>
              <a:rPr lang="en-US" dirty="0">
                <a:solidFill>
                  <a:schemeClr val="accent1"/>
                </a:solidFill>
              </a:rPr>
              <a:t> Soluci</a:t>
            </a:r>
            <a:r>
              <a:rPr lang="es-CL" dirty="0">
                <a:solidFill>
                  <a:schemeClr val="accent1"/>
                </a:solidFill>
              </a:rPr>
              <a:t>ón</a:t>
            </a:r>
            <a:endParaRPr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0" name="Google Shape;290;p15">
            <a:extLst>
              <a:ext uri="{FF2B5EF4-FFF2-40B4-BE49-F238E27FC236}">
                <a16:creationId xmlns:a16="http://schemas.microsoft.com/office/drawing/2014/main" id="{6EA853A8-A8D0-0B00-A7C1-0B69F46326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03800" y="1300949"/>
            <a:ext cx="7030500" cy="37490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46050" indent="0" algn="ctr">
              <a:buNone/>
            </a:pPr>
            <a:r>
              <a:rPr lang="es-CL" sz="1400" b="1" dirty="0">
                <a:solidFill>
                  <a:schemeClr val="accent1">
                    <a:lumMod val="75000"/>
                  </a:schemeClr>
                </a:solidFill>
              </a:rPr>
              <a:t>Funcionamiento y características principales</a:t>
            </a:r>
            <a:endParaRPr lang="es-CL" sz="1800" dirty="0">
              <a:solidFill>
                <a:schemeClr val="accent1">
                  <a:lumMod val="75000"/>
                </a:schemeClr>
              </a:solidFill>
            </a:endParaRPr>
          </a:p>
          <a:p>
            <a:pPr marL="146050" lvl="0" indent="0">
              <a:buNone/>
            </a:pPr>
            <a:r>
              <a:rPr lang="es-CL" sz="1400" b="1" dirty="0">
                <a:solidFill>
                  <a:schemeClr val="accent1">
                    <a:lumMod val="75000"/>
                  </a:schemeClr>
                </a:solidFill>
              </a:rPr>
              <a:t>Registro y creación de perfil</a:t>
            </a:r>
            <a:endParaRPr lang="es-CL" sz="1800" dirty="0">
              <a:solidFill>
                <a:schemeClr val="accent1">
                  <a:lumMod val="75000"/>
                </a:schemeClr>
              </a:solidFill>
            </a:endParaRPr>
          </a:p>
          <a:p>
            <a:pPr marL="615950" lvl="1" indent="0">
              <a:buNone/>
            </a:pPr>
            <a:r>
              <a:rPr lang="es-CL" dirty="0">
                <a:solidFill>
                  <a:schemeClr val="accent1">
                    <a:lumMod val="75000"/>
                  </a:schemeClr>
                </a:solidFill>
              </a:rPr>
              <a:t>Los usuarios podrán registrarse en la plataforma y crear su “tarjeta de trabajo” o perfil digital.</a:t>
            </a:r>
            <a:endParaRPr lang="es-CL" sz="1400" dirty="0">
              <a:solidFill>
                <a:schemeClr val="accent1">
                  <a:lumMod val="75000"/>
                </a:schemeClr>
              </a:solidFill>
            </a:endParaRPr>
          </a:p>
          <a:p>
            <a:pPr marL="615950" lvl="1" indent="0">
              <a:buNone/>
            </a:pPr>
            <a:r>
              <a:rPr lang="es-CL" dirty="0">
                <a:solidFill>
                  <a:schemeClr val="accent1">
                    <a:lumMod val="75000"/>
                  </a:schemeClr>
                </a:solidFill>
              </a:rPr>
              <a:t>La tarjeta incluirá datos como: nombre, edad, género, servicios ofrecidos (para trabajadores), dirección, foto de perfil, certificaciones, valor por servicio y una descripción del servicio.</a:t>
            </a:r>
            <a:endParaRPr lang="es-CL" sz="1400" dirty="0">
              <a:solidFill>
                <a:schemeClr val="accent1">
                  <a:lumMod val="75000"/>
                </a:schemeClr>
              </a:solidFill>
            </a:endParaRPr>
          </a:p>
          <a:p>
            <a:pPr marL="146050" lvl="0" indent="0">
              <a:buNone/>
            </a:pPr>
            <a:r>
              <a:rPr lang="es-CL" sz="1400" b="1" dirty="0">
                <a:solidFill>
                  <a:schemeClr val="accent1">
                    <a:lumMod val="75000"/>
                  </a:schemeClr>
                </a:solidFill>
              </a:rPr>
              <a:t>Búsqueda y contratación por parte de clientes</a:t>
            </a:r>
            <a:endParaRPr lang="es-CL" sz="1800" dirty="0">
              <a:solidFill>
                <a:schemeClr val="accent1">
                  <a:lumMod val="75000"/>
                </a:schemeClr>
              </a:solidFill>
            </a:endParaRPr>
          </a:p>
          <a:p>
            <a:pPr marL="615950" lvl="1" indent="0">
              <a:buNone/>
            </a:pPr>
            <a:r>
              <a:rPr lang="es-CL" dirty="0">
                <a:solidFill>
                  <a:schemeClr val="accent1">
                    <a:lumMod val="75000"/>
                  </a:schemeClr>
                </a:solidFill>
              </a:rPr>
              <a:t>Los clientes podrán buscar profesionales filtrando por servicio, ubicación, género y edad.</a:t>
            </a:r>
            <a:endParaRPr lang="es-CL" sz="1400" dirty="0">
              <a:solidFill>
                <a:schemeClr val="accent1">
                  <a:lumMod val="75000"/>
                </a:schemeClr>
              </a:solidFill>
            </a:endParaRPr>
          </a:p>
          <a:p>
            <a:pPr marL="615950" lvl="1" indent="0">
              <a:buNone/>
            </a:pPr>
            <a:r>
              <a:rPr lang="es-CL" dirty="0">
                <a:solidFill>
                  <a:schemeClr val="accent1">
                    <a:lumMod val="75000"/>
                  </a:schemeClr>
                </a:solidFill>
              </a:rPr>
              <a:t>Desde la misma plataforma podrán </a:t>
            </a:r>
            <a:r>
              <a:rPr lang="es-CL" b="1" dirty="0">
                <a:solidFill>
                  <a:schemeClr val="accent1">
                    <a:lumMod val="75000"/>
                  </a:schemeClr>
                </a:solidFill>
              </a:rPr>
              <a:t>reservar una fecha</a:t>
            </a:r>
            <a:r>
              <a:rPr lang="es-CL" dirty="0">
                <a:solidFill>
                  <a:schemeClr val="accent1">
                    <a:lumMod val="75000"/>
                  </a:schemeClr>
                </a:solidFill>
              </a:rPr>
              <a:t> y </a:t>
            </a:r>
            <a:r>
              <a:rPr lang="es-CL" b="1" dirty="0">
                <a:solidFill>
                  <a:schemeClr val="accent1">
                    <a:lumMod val="75000"/>
                  </a:schemeClr>
                </a:solidFill>
              </a:rPr>
              <a:t>realizar el pago online</a:t>
            </a:r>
            <a:r>
              <a:rPr lang="es-CL" dirty="0">
                <a:solidFill>
                  <a:schemeClr val="accent1">
                    <a:lumMod val="75000"/>
                  </a:schemeClr>
                </a:solidFill>
              </a:rPr>
              <a:t> para mayor comodidad.</a:t>
            </a:r>
            <a:endParaRPr lang="es-CL" sz="1400" dirty="0">
              <a:solidFill>
                <a:schemeClr val="accent1">
                  <a:lumMod val="75000"/>
                </a:schemeClr>
              </a:solidFill>
            </a:endParaRPr>
          </a:p>
          <a:p>
            <a:pPr marL="146050" lvl="0" indent="0">
              <a:buNone/>
            </a:pPr>
            <a:r>
              <a:rPr lang="es-CL" sz="1400" b="1" dirty="0">
                <a:solidFill>
                  <a:schemeClr val="accent1">
                    <a:lumMod val="75000"/>
                  </a:schemeClr>
                </a:solidFill>
              </a:rPr>
              <a:t>Seguridad y confianza</a:t>
            </a:r>
            <a:endParaRPr lang="es-CL" sz="1800" dirty="0">
              <a:solidFill>
                <a:schemeClr val="accent1">
                  <a:lumMod val="75000"/>
                </a:schemeClr>
              </a:solidFill>
            </a:endParaRPr>
          </a:p>
          <a:p>
            <a:pPr marL="615950" lvl="1" indent="0">
              <a:buNone/>
            </a:pPr>
            <a:r>
              <a:rPr lang="es-CL" dirty="0">
                <a:solidFill>
                  <a:schemeClr val="accent1">
                    <a:lumMod val="75000"/>
                  </a:schemeClr>
                </a:solidFill>
              </a:rPr>
              <a:t>Implementaremos un sistema de validación de antecedentes para evitar inconvenientes (por ejemplo, robos o acoso).</a:t>
            </a:r>
            <a:endParaRPr lang="es-CL" sz="1400" dirty="0">
              <a:solidFill>
                <a:schemeClr val="accent1">
                  <a:lumMod val="75000"/>
                </a:schemeClr>
              </a:solidFill>
            </a:endParaRPr>
          </a:p>
          <a:p>
            <a:pPr marL="615950" lvl="1" indent="0">
              <a:buNone/>
            </a:pPr>
            <a:r>
              <a:rPr lang="es-CL" dirty="0">
                <a:solidFill>
                  <a:schemeClr val="accent1">
                    <a:lumMod val="75000"/>
                  </a:schemeClr>
                </a:solidFill>
              </a:rPr>
              <a:t>Además, tendremos una verificación de documentos que acrediten el profesionalismo del trabajador. Pueden ser títulos, cursos, facturas o boletas de honorarios para confirmar la experiencia.</a:t>
            </a:r>
            <a:endParaRPr lang="es-CL" sz="1400" dirty="0">
              <a:solidFill>
                <a:schemeClr val="accent1">
                  <a:lumMod val="75000"/>
                </a:schemeClr>
              </a:solidFill>
            </a:endParaRPr>
          </a:p>
          <a:p>
            <a:pPr marL="615950" lvl="1" indent="0">
              <a:buNone/>
            </a:pPr>
            <a:r>
              <a:rPr lang="es-CL" dirty="0">
                <a:solidFill>
                  <a:schemeClr val="accent1">
                    <a:lumMod val="75000"/>
                  </a:schemeClr>
                </a:solidFill>
              </a:rPr>
              <a:t>Esto generará mayor tranquilidad en los clientes, quienes sabrán que reciben en su hogar a personas de confianza.</a:t>
            </a:r>
            <a:endParaRPr lang="es-CL" sz="1400" dirty="0">
              <a:solidFill>
                <a:schemeClr val="accent1">
                  <a:lumMod val="75000"/>
                </a:schemeClr>
              </a:solidFill>
            </a:endParaRPr>
          </a:p>
          <a:p>
            <a:pPr marL="146050" lvl="0" indent="0">
              <a:buNone/>
            </a:pPr>
            <a:r>
              <a:rPr lang="es-CL" sz="1400" b="1" dirty="0">
                <a:solidFill>
                  <a:schemeClr val="accent1">
                    <a:lumMod val="75000"/>
                  </a:schemeClr>
                </a:solidFill>
              </a:rPr>
              <a:t>Servicios iniciales y expansión</a:t>
            </a:r>
            <a:endParaRPr lang="es-CL" sz="1800" dirty="0">
              <a:solidFill>
                <a:schemeClr val="accent1">
                  <a:lumMod val="75000"/>
                </a:schemeClr>
              </a:solidFill>
            </a:endParaRPr>
          </a:p>
          <a:p>
            <a:pPr marL="615950" lvl="1" indent="0">
              <a:buNone/>
            </a:pPr>
            <a:r>
              <a:rPr lang="es-CL" dirty="0">
                <a:solidFill>
                  <a:schemeClr val="accent1">
                    <a:lumMod val="75000"/>
                  </a:schemeClr>
                </a:solidFill>
              </a:rPr>
              <a:t>En una primera etapa, la plataforma se enfocará en </a:t>
            </a:r>
            <a:r>
              <a:rPr lang="es-CL" b="1" dirty="0">
                <a:solidFill>
                  <a:schemeClr val="accent1">
                    <a:lumMod val="75000"/>
                  </a:schemeClr>
                </a:solidFill>
              </a:rPr>
              <a:t>limpieza del hogar</a:t>
            </a:r>
            <a:r>
              <a:rPr lang="es-CL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s-CL" b="1" dirty="0">
                <a:solidFill>
                  <a:schemeClr val="accent1">
                    <a:lumMod val="75000"/>
                  </a:schemeClr>
                </a:solidFill>
              </a:rPr>
              <a:t>gasfitería</a:t>
            </a:r>
            <a:r>
              <a:rPr lang="es-CL" dirty="0">
                <a:solidFill>
                  <a:schemeClr val="accent1">
                    <a:lumMod val="75000"/>
                  </a:schemeClr>
                </a:solidFill>
              </a:rPr>
              <a:t> y </a:t>
            </a:r>
            <a:r>
              <a:rPr lang="es-CL" b="1" dirty="0">
                <a:solidFill>
                  <a:schemeClr val="accent1">
                    <a:lumMod val="75000"/>
                  </a:schemeClr>
                </a:solidFill>
              </a:rPr>
              <a:t>jardinería</a:t>
            </a:r>
            <a:endParaRPr lang="es-CL" sz="1400" dirty="0">
              <a:solidFill>
                <a:schemeClr val="accent1">
                  <a:lumMod val="75000"/>
                </a:schemeClr>
              </a:solidFill>
            </a:endParaRPr>
          </a:p>
          <a:p>
            <a:pPr marL="615950" lvl="1" indent="0">
              <a:buNone/>
            </a:pPr>
            <a:r>
              <a:rPr lang="es-CL" dirty="0">
                <a:solidFill>
                  <a:schemeClr val="accent1">
                    <a:lumMod val="75000"/>
                  </a:schemeClr>
                </a:solidFill>
              </a:rPr>
              <a:t>Posteriormente, se ampliará el catálogo para incluir más tipos de servicios (ejemplos:</a:t>
            </a:r>
            <a:r>
              <a:rPr lang="es-CL" b="1" dirty="0">
                <a:solidFill>
                  <a:schemeClr val="accent1">
                    <a:lumMod val="75000"/>
                  </a:schemeClr>
                </a:solidFill>
              </a:rPr>
              <a:t> carpintería, soldadura, pintura, etc.</a:t>
            </a:r>
            <a:r>
              <a:rPr lang="es-CL" dirty="0">
                <a:solidFill>
                  <a:schemeClr val="accent1">
                    <a:lumMod val="75000"/>
                  </a:schemeClr>
                </a:solidFill>
              </a:rPr>
              <a:t>), permitiendo la integración de profesionales de todo tipo.</a:t>
            </a:r>
            <a:endParaRPr lang="es-CL" sz="1400" dirty="0">
              <a:solidFill>
                <a:schemeClr val="accent1">
                  <a:lumMod val="75000"/>
                </a:schemeClr>
              </a:solidFill>
            </a:endParaRPr>
          </a:p>
          <a:p>
            <a:pPr marL="146050" indent="0">
              <a:buNone/>
            </a:pPr>
            <a:endParaRPr lang="es-CL" dirty="0"/>
          </a:p>
        </p:txBody>
      </p:sp>
      <p:pic>
        <p:nvPicPr>
          <p:cNvPr id="2" name="Picture 4" descr="Personajes: FELIX, es el héroe y protagonista del videojuego Repara-Félix  Jr., donde su deber es reparar, con la ayuda de su... – @crazydreampanda on  Tumblr">
            <a:extLst>
              <a:ext uri="{FF2B5EF4-FFF2-40B4-BE49-F238E27FC236}">
                <a16:creationId xmlns:a16="http://schemas.microsoft.com/office/drawing/2014/main" id="{19EE58AC-B786-8CCE-C9A8-7AB3104AE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719" b="93438" l="10000" r="90000">
                        <a14:foregroundMark x1="37500" y1="10625" x2="37500" y2="10625"/>
                        <a14:foregroundMark x1="34688" y1="6719" x2="34688" y2="6719"/>
                        <a14:foregroundMark x1="42344" y1="90781" x2="42344" y2="90781"/>
                        <a14:foregroundMark x1="60313" y1="91563" x2="60313" y2="91563"/>
                        <a14:foregroundMark x1="45156" y1="92813" x2="45156" y2="92813"/>
                        <a14:backgroundMark x1="61094" y1="93750" x2="61094" y2="93750"/>
                        <a14:backgroundMark x1="61250" y1="93438" x2="60781" y2="93438"/>
                        <a14:backgroundMark x1="45000" y1="93125" x2="45000" y2="93125"/>
                        <a14:backgroundMark x1="45313" y1="92813" x2="45313" y2="92813"/>
                        <a14:backgroundMark x1="48906" y1="73125" x2="48906" y2="73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8878" y="2370859"/>
            <a:ext cx="2460914" cy="246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6014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</a:rPr>
              <a:t>Objetivos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02" name="Google Shape;302;p17"/>
          <p:cNvSpPr txBox="1">
            <a:spLocks noGrp="1"/>
          </p:cNvSpPr>
          <p:nvPr>
            <p:ph type="body" idx="1"/>
          </p:nvPr>
        </p:nvSpPr>
        <p:spPr>
          <a:xfrm>
            <a:off x="1303800" y="1300950"/>
            <a:ext cx="6420109" cy="93656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rmAutofit/>
          </a:bodyPr>
          <a:lstStyle/>
          <a:p>
            <a:pPr marL="0" lvl="0" indent="0" algn="just">
              <a:buNone/>
            </a:pPr>
            <a:r>
              <a:rPr lang="es-CL" b="1" dirty="0">
                <a:solidFill>
                  <a:schemeClr val="accent1">
                    <a:lumMod val="75000"/>
                  </a:schemeClr>
                </a:solidFill>
              </a:rPr>
              <a:t>Objetivo General:</a:t>
            </a:r>
          </a:p>
          <a:p>
            <a:pPr marL="0" lvl="0" indent="0" algn="just">
              <a:buNone/>
            </a:pPr>
            <a:r>
              <a:rPr lang="es-CL" dirty="0">
                <a:solidFill>
                  <a:schemeClr val="accent1">
                    <a:lumMod val="75000"/>
                  </a:schemeClr>
                </a:solidFill>
              </a:rPr>
              <a:t>Desarrollar una plataforma web que conecte a trabajadores independientes de servicios a domicilio con los clientes.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0BB9296-C4D3-1F99-AEBC-44AC2BD49F32}"/>
              </a:ext>
            </a:extLst>
          </p:cNvPr>
          <p:cNvSpPr txBox="1"/>
          <p:nvPr/>
        </p:nvSpPr>
        <p:spPr>
          <a:xfrm>
            <a:off x="1303798" y="2149779"/>
            <a:ext cx="6420111" cy="2775511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0" lvl="0" indent="0" algn="just">
              <a:buNone/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Nunito" pitchFamily="2" charset="0"/>
              </a:rPr>
              <a:t>Objetivos Específicos:</a:t>
            </a:r>
          </a:p>
          <a:p>
            <a:pPr marL="146050" lvl="0" indent="0" algn="just">
              <a:buNone/>
            </a:pPr>
            <a:r>
              <a:rPr lang="es-ES" sz="1100" dirty="0">
                <a:solidFill>
                  <a:schemeClr val="accent1">
                    <a:lumMod val="75000"/>
                  </a:schemeClr>
                </a:solidFill>
                <a:latin typeface="Nunito" pitchFamily="2" charset="0"/>
              </a:rPr>
              <a:t>Alcanzar un registro de al menos 500 trabajadores independientes en la plataforma durante el primer año de funcionamiento.</a:t>
            </a:r>
          </a:p>
          <a:p>
            <a:pPr marL="146050" indent="0" algn="just">
              <a:buNone/>
            </a:pPr>
            <a:r>
              <a:rPr lang="es-ES" sz="1100" dirty="0">
                <a:solidFill>
                  <a:schemeClr val="accent1">
                    <a:lumMod val="75000"/>
                  </a:schemeClr>
                </a:solidFill>
                <a:latin typeface="Nunito" pitchFamily="2" charset="0"/>
              </a:rPr>
              <a:t> </a:t>
            </a:r>
          </a:p>
          <a:p>
            <a:pPr marL="146050" lvl="0" indent="0" algn="just">
              <a:buNone/>
            </a:pPr>
            <a:r>
              <a:rPr lang="es-ES" sz="1100" dirty="0">
                <a:solidFill>
                  <a:schemeClr val="accent1">
                    <a:lumMod val="75000"/>
                  </a:schemeClr>
                </a:solidFill>
                <a:latin typeface="Nunito" pitchFamily="2" charset="0"/>
              </a:rPr>
              <a:t>Lograr la inscripción de 2.000 clientes en los primeros 15 meses de operación.</a:t>
            </a:r>
          </a:p>
          <a:p>
            <a:pPr marL="146050" indent="0" algn="just">
              <a:buNone/>
            </a:pPr>
            <a:r>
              <a:rPr lang="es-ES" sz="1100" dirty="0">
                <a:solidFill>
                  <a:schemeClr val="accent1">
                    <a:lumMod val="75000"/>
                  </a:schemeClr>
                </a:solidFill>
                <a:latin typeface="Nunito" pitchFamily="2" charset="0"/>
              </a:rPr>
              <a:t> </a:t>
            </a:r>
          </a:p>
          <a:p>
            <a:pPr marL="146050" lvl="0" indent="0" algn="just">
              <a:buNone/>
            </a:pPr>
            <a:r>
              <a:rPr lang="es-ES" sz="1100" dirty="0">
                <a:solidFill>
                  <a:schemeClr val="accent1">
                    <a:lumMod val="75000"/>
                  </a:schemeClr>
                </a:solidFill>
                <a:latin typeface="Nunito" pitchFamily="2" charset="0"/>
              </a:rPr>
              <a:t>Conseguir que al menos el 70% de los trabajadores cuenten con verificación de antecedentes y certificaciones en el primer año.</a:t>
            </a:r>
          </a:p>
          <a:p>
            <a:pPr marL="146050" indent="0" algn="just">
              <a:buNone/>
            </a:pPr>
            <a:r>
              <a:rPr lang="es-ES" sz="1100" dirty="0">
                <a:solidFill>
                  <a:schemeClr val="accent1">
                    <a:lumMod val="75000"/>
                  </a:schemeClr>
                </a:solidFill>
                <a:latin typeface="Nunito" pitchFamily="2" charset="0"/>
              </a:rPr>
              <a:t> </a:t>
            </a:r>
          </a:p>
          <a:p>
            <a:pPr marL="146050" lvl="0" indent="0" algn="just">
              <a:buNone/>
            </a:pPr>
            <a:r>
              <a:rPr lang="es-ES" sz="1100" dirty="0">
                <a:solidFill>
                  <a:schemeClr val="accent1">
                    <a:lumMod val="75000"/>
                  </a:schemeClr>
                </a:solidFill>
                <a:latin typeface="Nunito" pitchFamily="2" charset="0"/>
              </a:rPr>
              <a:t>Incrementar en un 15% la tasa de contratación mensual a lo largo de los 2 primeros años de funcionamiento.</a:t>
            </a:r>
          </a:p>
          <a:p>
            <a:pPr marL="146050" indent="0" algn="just">
              <a:buNone/>
            </a:pPr>
            <a:r>
              <a:rPr lang="es-ES" sz="1100" dirty="0">
                <a:solidFill>
                  <a:schemeClr val="accent1">
                    <a:lumMod val="75000"/>
                  </a:schemeClr>
                </a:solidFill>
                <a:latin typeface="Nunito" pitchFamily="2" charset="0"/>
              </a:rPr>
              <a:t> </a:t>
            </a:r>
          </a:p>
          <a:p>
            <a:pPr marL="146050" lvl="0" indent="0" algn="just">
              <a:buNone/>
            </a:pPr>
            <a:r>
              <a:rPr lang="es-ES" sz="1100" dirty="0">
                <a:solidFill>
                  <a:schemeClr val="accent1">
                    <a:lumMod val="75000"/>
                  </a:schemeClr>
                </a:solidFill>
                <a:latin typeface="Nunito" pitchFamily="2" charset="0"/>
              </a:rPr>
              <a:t>Conseguir que al menos el 50% de los clientes realicen una calificación del servicio recibido en el transcurso del primer año.</a:t>
            </a:r>
          </a:p>
          <a:p>
            <a:pPr marL="146050" indent="0" algn="just">
              <a:buNone/>
            </a:pPr>
            <a:r>
              <a:rPr lang="es-ES" sz="1100" dirty="0">
                <a:solidFill>
                  <a:schemeClr val="accent1">
                    <a:lumMod val="75000"/>
                  </a:schemeClr>
                </a:solidFill>
                <a:latin typeface="Nunito" pitchFamily="2" charset="0"/>
              </a:rPr>
              <a:t> </a:t>
            </a:r>
          </a:p>
          <a:p>
            <a:pPr marL="146050" lvl="0" indent="0" algn="just">
              <a:buNone/>
            </a:pPr>
            <a:r>
              <a:rPr lang="es-ES" sz="1100" dirty="0">
                <a:solidFill>
                  <a:schemeClr val="accent1">
                    <a:lumMod val="75000"/>
                  </a:schemeClr>
                </a:solidFill>
                <a:latin typeface="Nunito" pitchFamily="2" charset="0"/>
              </a:rPr>
              <a:t>Incorporar al menos tres nuevas categorías de servicios en la plataforma dentro de los primeros dieciocho meses.</a:t>
            </a:r>
          </a:p>
          <a:p>
            <a:pPr marL="146050" indent="0" algn="just">
              <a:buNone/>
            </a:pPr>
            <a:r>
              <a:rPr lang="es-ES" sz="1100" dirty="0">
                <a:solidFill>
                  <a:schemeClr val="accent1">
                    <a:lumMod val="75000"/>
                  </a:schemeClr>
                </a:solidFill>
                <a:latin typeface="Nunito" pitchFamily="2" charset="0"/>
              </a:rPr>
              <a:t> </a:t>
            </a:r>
          </a:p>
          <a:p>
            <a:pPr marL="146050" indent="0" algn="just">
              <a:buNone/>
            </a:pPr>
            <a:r>
              <a:rPr lang="es-ES" sz="1100" dirty="0">
                <a:solidFill>
                  <a:schemeClr val="accent1">
                    <a:lumMod val="75000"/>
                  </a:schemeClr>
                </a:solidFill>
                <a:latin typeface="Nunito" pitchFamily="2" charset="0"/>
              </a:rPr>
              <a:t>Alcanzar presencia en al menos 4 regiones del país en los primeros 2 años.</a:t>
            </a:r>
          </a:p>
          <a:p>
            <a:pPr algn="just"/>
            <a:endParaRPr lang="es-CL" dirty="0"/>
          </a:p>
        </p:txBody>
      </p:sp>
      <p:pic>
        <p:nvPicPr>
          <p:cNvPr id="7170" name="Picture 2" descr="Definición de objetivos de marketing de productos, no importa, texto, logo  png | PNGEgg">
            <a:extLst>
              <a:ext uri="{FF2B5EF4-FFF2-40B4-BE49-F238E27FC236}">
                <a16:creationId xmlns:a16="http://schemas.microsoft.com/office/drawing/2014/main" id="{0453FC80-E0AF-CA2C-DE1C-2484A0D1B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592" b="97408" l="10000" r="90000">
                        <a14:foregroundMark x1="30000" y1="9935" x2="30000" y2="9935"/>
                        <a14:foregroundMark x1="37556" y1="2592" x2="37556" y2="2592"/>
                        <a14:foregroundMark x1="62556" y1="41685" x2="62556" y2="41685"/>
                        <a14:foregroundMark x1="70778" y1="44492" x2="70778" y2="44492"/>
                        <a14:foregroundMark x1="74778" y1="48164" x2="74778" y2="48164"/>
                        <a14:foregroundMark x1="55444" y1="53996" x2="55444" y2="53996"/>
                        <a14:foregroundMark x1="50111" y1="48380" x2="50111" y2="48380"/>
                        <a14:foregroundMark x1="47222" y1="63715" x2="47222" y2="63715"/>
                        <a14:foregroundMark x1="56667" y1="65659" x2="56667" y2="65659"/>
                        <a14:foregroundMark x1="53667" y1="72570" x2="53667" y2="72570"/>
                        <a14:foregroundMark x1="47222" y1="97408" x2="47222" y2="97408"/>
                        <a14:backgroundMark x1="59000" y1="77754" x2="59000" y2="777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475" y="159672"/>
            <a:ext cx="2512867" cy="1292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E0750-F42A-0F9D-F17D-F5384F4A4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/>
                </a:solidFill>
              </a:rPr>
              <a:t>Alcances</a:t>
            </a:r>
            <a:r>
              <a:rPr lang="en-US" dirty="0">
                <a:solidFill>
                  <a:schemeClr val="accent1"/>
                </a:solidFill>
              </a:rPr>
              <a:t> y </a:t>
            </a:r>
            <a:r>
              <a:rPr lang="en-US" dirty="0" err="1">
                <a:solidFill>
                  <a:schemeClr val="accent1"/>
                </a:solidFill>
              </a:rPr>
              <a:t>Limitaciones</a:t>
            </a: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C47B5E-0E95-E330-B4A1-42B40DB87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00" y="1337463"/>
            <a:ext cx="7030500" cy="2791192"/>
          </a:xfrm>
        </p:spPr>
        <p:txBody>
          <a:bodyPr numCol="2">
            <a:normAutofit fontScale="70000" lnSpcReduction="20000"/>
          </a:bodyPr>
          <a:lstStyle/>
          <a:p>
            <a:pPr marL="146050" indent="0">
              <a:buNone/>
            </a:pPr>
            <a:r>
              <a:rPr lang="es-ES" sz="1500" b="1" dirty="0">
                <a:solidFill>
                  <a:schemeClr val="accent1">
                    <a:lumMod val="75000"/>
                  </a:schemeClr>
                </a:solidFill>
              </a:rPr>
              <a:t>Alcances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chemeClr val="accent1">
                    <a:lumMod val="75000"/>
                  </a:schemeClr>
                </a:solidFill>
              </a:rPr>
              <a:t>Permitir a los usuarios registrarse en la plataforma.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chemeClr val="accent1">
                    <a:lumMod val="75000"/>
                  </a:schemeClr>
                </a:solidFill>
              </a:rPr>
              <a:t>Ofrecer la creación de tarjetas con datos personales y servicios.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chemeClr val="accent1">
                    <a:lumMod val="75000"/>
                  </a:schemeClr>
                </a:solidFill>
              </a:rPr>
              <a:t>Publicar y administrar servicios ofrecidos por los trabajadores.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chemeClr val="accent1">
                    <a:lumMod val="75000"/>
                  </a:schemeClr>
                </a:solidFill>
              </a:rPr>
              <a:t>Facilitar la reserva de servicios por parte de clientes.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chemeClr val="accent1">
                    <a:lumMod val="75000"/>
                  </a:schemeClr>
                </a:solidFill>
              </a:rPr>
              <a:t>Integrar un sistema de pagos en línea seguro.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chemeClr val="accent1">
                    <a:lumMod val="75000"/>
                  </a:schemeClr>
                </a:solidFill>
              </a:rPr>
              <a:t>Incluir un sistema de verificación básica para generar confianza.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chemeClr val="accent1">
                    <a:lumMod val="75000"/>
                  </a:schemeClr>
                </a:solidFill>
              </a:rPr>
              <a:t>Incorporar un sistema de calificaciones y reseñas para los trabajadores y clientes.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chemeClr val="accent1">
                    <a:lumMod val="75000"/>
                  </a:schemeClr>
                </a:solidFill>
              </a:rPr>
              <a:t>Iniciar con servicios de limpieza, gasfitería y jardinería, con posibilidad de expansión futura.</a:t>
            </a:r>
          </a:p>
          <a:p>
            <a:pPr marL="146050" indent="0">
              <a:buNone/>
            </a:pPr>
            <a:r>
              <a:rPr lang="es-ES" sz="1500" b="1" dirty="0">
                <a:solidFill>
                  <a:schemeClr val="accent1">
                    <a:lumMod val="75000"/>
                  </a:schemeClr>
                </a:solidFill>
              </a:rPr>
              <a:t>Limitaciones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chemeClr val="accent1">
                    <a:lumMod val="75000"/>
                  </a:schemeClr>
                </a:solidFill>
              </a:rPr>
              <a:t>No garantiza la disponibilidad inmediata de trabajadores en todas las regiones del país.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chemeClr val="accent1">
                    <a:lumMod val="75000"/>
                  </a:schemeClr>
                </a:solidFill>
              </a:rPr>
              <a:t>No asume responsabilidad directa por la calidad final del servicio prestado.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chemeClr val="accent1">
                    <a:lumMod val="75000"/>
                  </a:schemeClr>
                </a:solidFill>
              </a:rPr>
              <a:t>Depende de que tan cierto es la información entregada por los trabajadores al registrarse.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chemeClr val="accent1">
                    <a:lumMod val="75000"/>
                  </a:schemeClr>
                </a:solidFill>
              </a:rPr>
              <a:t>La cobertura inicial se limita a ciertos rubros específicos.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chemeClr val="accent1">
                    <a:lumMod val="75000"/>
                  </a:schemeClr>
                </a:solidFill>
              </a:rPr>
              <a:t>La incorporación de nuevas funciones y categorías quedará sujeta a fases posteriores de desarrollo.</a:t>
            </a:r>
          </a:p>
          <a:p>
            <a:pPr marL="146050" indent="0">
              <a:buNone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517639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</a:rPr>
              <a:t>Metodología de Trabajo: SCRUM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96" name="Google Shape;296;p16"/>
          <p:cNvSpPr txBox="1">
            <a:spLocks noGrp="1"/>
          </p:cNvSpPr>
          <p:nvPr>
            <p:ph type="body" idx="1"/>
          </p:nvPr>
        </p:nvSpPr>
        <p:spPr>
          <a:xfrm>
            <a:off x="1303801" y="1300949"/>
            <a:ext cx="5539686" cy="36556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146050" indent="0" algn="just">
              <a:buNone/>
            </a:pPr>
            <a:r>
              <a:rPr lang="es-CL" dirty="0">
                <a:solidFill>
                  <a:schemeClr val="accent1">
                    <a:lumMod val="75000"/>
                  </a:schemeClr>
                </a:solidFill>
              </a:rPr>
              <a:t>Se ha optado por Scrum, dado que facilita el trabajo en ciclos cortos e iterativos, permitiendo entregar avances funcionales en cada sprint y reduciendo los riesgos asociados al desarrollo.</a:t>
            </a:r>
          </a:p>
          <a:p>
            <a:pPr marL="146050" indent="0" algn="just">
              <a:buNone/>
            </a:pPr>
            <a:endParaRPr lang="es-CL" dirty="0">
              <a:solidFill>
                <a:schemeClr val="accent1">
                  <a:lumMod val="75000"/>
                </a:schemeClr>
              </a:solidFill>
            </a:endParaRPr>
          </a:p>
          <a:p>
            <a:pPr marL="146050" indent="0" algn="just">
              <a:buNone/>
            </a:pPr>
            <a:r>
              <a:rPr lang="es-CL" dirty="0">
                <a:solidFill>
                  <a:schemeClr val="accent1">
                    <a:lumMod val="75000"/>
                  </a:schemeClr>
                </a:solidFill>
              </a:rPr>
              <a:t>A diferencia de metodologías tradicionales como el modelo en cascada, que son más rígidas y demandan definir todos los requisitos al inicio, Scrum posibilita priorizar funcionalidades clave y adaptarlas según la evolución del proyecto. Asimismo, frente a enfoques como Kanban, Scrum ofrece mayor estructura al organizar el trabajo en roles, backlog y entregas incrementales, lo que resulta más adecuado para asegurar valor temprano a los usuarios.</a:t>
            </a:r>
          </a:p>
          <a:p>
            <a:pPr marL="146050" indent="0" algn="just">
              <a:buNone/>
            </a:pPr>
            <a:endParaRPr lang="es-CL" dirty="0">
              <a:solidFill>
                <a:schemeClr val="accent1">
                  <a:lumMod val="75000"/>
                </a:schemeClr>
              </a:solidFill>
            </a:endParaRPr>
          </a:p>
          <a:p>
            <a:pPr marL="146050" indent="0" algn="just">
              <a:buNone/>
            </a:pPr>
            <a:r>
              <a:rPr lang="es-CL" dirty="0">
                <a:solidFill>
                  <a:schemeClr val="accent1">
                    <a:lumMod val="75000"/>
                  </a:schemeClr>
                </a:solidFill>
              </a:rPr>
              <a:t>En conclusión, Scrum permite flexibilidad, entregas incrementales, reducción de riesgos y mejora continua, factores esenciales para el éxito de un proyecto digital como </a:t>
            </a:r>
            <a:r>
              <a:rPr lang="es-CL" dirty="0" err="1">
                <a:solidFill>
                  <a:schemeClr val="accent1">
                    <a:lumMod val="75000"/>
                  </a:schemeClr>
                </a:solidFill>
              </a:rPr>
              <a:t>ServiHogar</a:t>
            </a:r>
            <a:r>
              <a:rPr lang="es-CL" dirty="0">
                <a:solidFill>
                  <a:schemeClr val="accent1">
                    <a:lumMod val="75000"/>
                  </a:schemeClr>
                </a:solidFill>
              </a:rPr>
              <a:t>, cuyo propósito es crecer y evolucionar en función de las necesidades reales de clientes y trabajadores.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DC4DE4B-1276-3110-82A7-AB684527D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487" y="979714"/>
            <a:ext cx="2227338" cy="159203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52D0E61-1EAB-9BE1-14BF-92D1DA429B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212" y="2447205"/>
            <a:ext cx="1477887" cy="8300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F68083-7C2C-B46E-715B-711346D5E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Tecnolog</a:t>
            </a:r>
            <a:r>
              <a:rPr lang="es-CL" dirty="0">
                <a:solidFill>
                  <a:schemeClr val="accent1"/>
                </a:solidFill>
              </a:rPr>
              <a:t>í</a:t>
            </a:r>
            <a:r>
              <a:rPr lang="en-US" dirty="0">
                <a:solidFill>
                  <a:schemeClr val="accent1"/>
                </a:solidFill>
              </a:rPr>
              <a:t>a</a:t>
            </a: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D2677C-CDA1-E03C-139D-D1B1C8FDA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00" y="1401232"/>
            <a:ext cx="7030500" cy="2541600"/>
          </a:xfrm>
        </p:spPr>
        <p:txBody>
          <a:bodyPr/>
          <a:lstStyle/>
          <a:p>
            <a:pPr marL="146050" indent="0">
              <a:buNone/>
            </a:pPr>
            <a:r>
              <a:rPr lang="es-CL" dirty="0">
                <a:solidFill>
                  <a:schemeClr val="accent1">
                    <a:lumMod val="75000"/>
                  </a:schemeClr>
                </a:solidFill>
              </a:rPr>
              <a:t>Se utilizarán herramientas accesibles como HTML, CSS, Python, Microsoft Proyect y plataformas gratuitas como GitHub para subir el código y documentación, y </a:t>
            </a:r>
            <a:r>
              <a:rPr lang="es-CL" dirty="0" err="1">
                <a:solidFill>
                  <a:schemeClr val="accent1">
                    <a:lumMod val="75000"/>
                  </a:schemeClr>
                </a:solidFill>
              </a:rPr>
              <a:t>Firebase</a:t>
            </a:r>
            <a:r>
              <a:rPr lang="es-CL" dirty="0">
                <a:solidFill>
                  <a:schemeClr val="accent1">
                    <a:lumMod val="75000"/>
                  </a:schemeClr>
                </a:solidFill>
              </a:rPr>
              <a:t> para base de datos y hosting.</a:t>
            </a:r>
          </a:p>
          <a:p>
            <a:pPr marL="146050" indent="0">
              <a:buNone/>
            </a:pPr>
            <a:endParaRPr lang="es-CL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F29329A-33D9-FEDF-7405-FFC5F8A74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700" y="2794337"/>
            <a:ext cx="1287236" cy="128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B54B9609-D170-A416-6E35-1C920859A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8964" y="2786739"/>
            <a:ext cx="911792" cy="128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D Python Logo Symbol Transparent PNG | Citypng">
            <a:extLst>
              <a:ext uri="{FF2B5EF4-FFF2-40B4-BE49-F238E27FC236}">
                <a16:creationId xmlns:a16="http://schemas.microsoft.com/office/drawing/2014/main" id="{1A63846C-9FA0-4515-556D-F987DDA37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21250" y1="62750" x2="21250" y2="62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785" y="2794337"/>
            <a:ext cx="1287236" cy="128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Microsoft Project - Aplicación de escritorio para Mac, Windows (PC) -  WebCatalog">
            <a:extLst>
              <a:ext uri="{FF2B5EF4-FFF2-40B4-BE49-F238E27FC236}">
                <a16:creationId xmlns:a16="http://schemas.microsoft.com/office/drawing/2014/main" id="{EA10887E-61BE-3100-E8C9-3FD8E42E53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42083" y1="45714" x2="42083" y2="457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341" r="29597"/>
          <a:stretch>
            <a:fillRect/>
          </a:stretch>
        </p:blipFill>
        <p:spPr bwMode="auto">
          <a:xfrm>
            <a:off x="4544078" y="2510865"/>
            <a:ext cx="1473357" cy="1838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Github icon (logo symbol png) black">
            <a:extLst>
              <a:ext uri="{FF2B5EF4-FFF2-40B4-BE49-F238E27FC236}">
                <a16:creationId xmlns:a16="http://schemas.microsoft.com/office/drawing/2014/main" id="{64FE7ABB-D083-B902-746C-2803FC13D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5444" y="2738493"/>
            <a:ext cx="1343080" cy="1343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Firebase logo in PNG SVG Vector format - Free Download">
            <a:extLst>
              <a:ext uri="{FF2B5EF4-FFF2-40B4-BE49-F238E27FC236}">
                <a16:creationId xmlns:a16="http://schemas.microsoft.com/office/drawing/2014/main" id="{E6568251-A13A-5775-83DD-848E085EB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2581" y="2738493"/>
            <a:ext cx="985776" cy="1239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5370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>
            <a:spLocks noGrp="1"/>
          </p:cNvSpPr>
          <p:nvPr>
            <p:ph type="title"/>
          </p:nvPr>
        </p:nvSpPr>
        <p:spPr>
          <a:xfrm>
            <a:off x="775423" y="2072100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</a:rPr>
              <a:t>Cronograma</a:t>
            </a:r>
            <a:endParaRPr dirty="0">
              <a:solidFill>
                <a:schemeClr val="accent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F9E9346-B7CC-14B9-0E9D-35175D50CC5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599191">
                <a:tint val="45000"/>
                <a:satMod val="400000"/>
              </a:srgb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28675" y="84859"/>
            <a:ext cx="4027412" cy="4973782"/>
          </a:xfrm>
          <a:prstGeom prst="rect">
            <a:avLst/>
          </a:prstGeom>
          <a:ln w="28575" cap="flat">
            <a:solidFill>
              <a:schemeClr val="tx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1013EF1C-2F83-264B-ADFF-56C74DE6B24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84130" y="2571750"/>
            <a:ext cx="1789401" cy="17894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 txBox="1">
            <a:spLocks noGrp="1"/>
          </p:cNvSpPr>
          <p:nvPr>
            <p:ph type="title"/>
          </p:nvPr>
        </p:nvSpPr>
        <p:spPr>
          <a:xfrm>
            <a:off x="1636867" y="1760373"/>
            <a:ext cx="675206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dirty="0">
                <a:solidFill>
                  <a:schemeClr val="accent1"/>
                </a:solidFill>
              </a:rPr>
              <a:t>Consultas y</a:t>
            </a:r>
            <a:r>
              <a:rPr lang="en-US" sz="3600" dirty="0">
                <a:solidFill>
                  <a:schemeClr val="accent1"/>
                </a:solidFill>
              </a:rPr>
              <a:t>/o comentarios.</a:t>
            </a:r>
            <a:endParaRPr sz="3600" dirty="0">
              <a:solidFill>
                <a:schemeClr val="accent1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0B1924E-05D9-76FD-6C4D-A25E23D0F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7911" y="2335397"/>
            <a:ext cx="2388177" cy="2388177"/>
          </a:xfrm>
          <a:prstGeom prst="rect">
            <a:avLst/>
          </a:prstGeom>
          <a:effectLst>
            <a:outerShdw blurRad="88900" dist="254000" dir="13500000" sy="23000" kx="1200000" algn="br" rotWithShape="0">
              <a:prstClr val="black">
                <a:alpha val="48000"/>
              </a:prstClr>
            </a:outerShdw>
            <a:softEdge rad="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</TotalTime>
  <Words>942</Words>
  <Application>Microsoft Office PowerPoint</Application>
  <PresentationFormat>Presentación en pantalla (16:9)</PresentationFormat>
  <Paragraphs>72</Paragraphs>
  <Slides>10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Nunito</vt:lpstr>
      <vt:lpstr>Times New Roman</vt:lpstr>
      <vt:lpstr>Arial</vt:lpstr>
      <vt:lpstr>Maven Pro</vt:lpstr>
      <vt:lpstr>Momentum</vt:lpstr>
      <vt:lpstr>ServiHogar</vt:lpstr>
      <vt:lpstr>Problemática del Caso</vt:lpstr>
      <vt:lpstr>Propuesta de Solución </vt:lpstr>
      <vt:lpstr>Propuesta de Solución </vt:lpstr>
      <vt:lpstr>Objetivos</vt:lpstr>
      <vt:lpstr>Alcances y Limitaciones</vt:lpstr>
      <vt:lpstr>Metodología de Trabajo: SCRUM</vt:lpstr>
      <vt:lpstr>Tecnología</vt:lpstr>
      <vt:lpstr>Cronograma</vt:lpstr>
      <vt:lpstr>Consultas y/o comentarios.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 CRISTOPHER SILVA SEPULVEDA</cp:lastModifiedBy>
  <cp:revision>4</cp:revision>
  <dcterms:modified xsi:type="dcterms:W3CDTF">2025-09-02T03:32:39Z</dcterms:modified>
</cp:coreProperties>
</file>