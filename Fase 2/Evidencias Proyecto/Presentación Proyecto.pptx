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323" r:id="rId9"/>
    <p:sldId id="263" r:id="rId10"/>
    <p:sldId id="322" r:id="rId11"/>
    <p:sldId id="269" r:id="rId12"/>
    <p:sldId id="320" r:id="rId13"/>
    <p:sldId id="321" r:id="rId14"/>
    <p:sldId id="272" r:id="rId15"/>
    <p:sldId id="319" r:id="rId16"/>
    <p:sldId id="270" r:id="rId17"/>
    <p:sldId id="267" r:id="rId18"/>
    <p:sldId id="268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47E5"/>
    <a:srgbClr val="D84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image" Target="../media/image3.jp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image" Target="../media/image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MX" dirty="0"/>
            <a:t>Juan Silva Sepúlveda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dirty="0" err="1"/>
            <a:t>Product</a:t>
          </a:r>
          <a:r>
            <a:rPr lang="es-MX" dirty="0"/>
            <a:t> </a:t>
          </a:r>
          <a:r>
            <a:rPr lang="es-MX" dirty="0" err="1"/>
            <a:t>Owner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 dirty="0"/>
            <a:t>Matías Reuque Barros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MX" dirty="0"/>
            <a:t>Scrum Master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2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2"/>
      <dgm:spPr>
        <a:blipFill>
          <a:blip xmlns:r="http://schemas.openxmlformats.org/officeDocument/2006/relationships" r:embed="rId1"/>
          <a:srcRect/>
          <a:stretch>
            <a:fillRect l="-4000" r="-4000"/>
          </a:stretch>
        </a:blipFill>
      </dgm:spPr>
    </dgm:pt>
    <dgm:pt modelId="{52D125D2-FCA7-4A2D-AB39-B6BD54F251F2}" type="pres">
      <dgm:prSet presAssocID="{78BFB295-8F5D-4286-B72B-79142F8F0E13}" presName="text" presStyleLbl="node1" presStyleIdx="0" presStyleCnt="2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2"/>
      <dgm:spPr/>
    </dgm:pt>
    <dgm:pt modelId="{3F97C059-D720-4D48-953F-B84D04D0BF79}" type="pres">
      <dgm:prSet presAssocID="{02A34BC0-F8BA-4A89-87A4-4F20079DFD06}" presName="img" presStyleLbl="fgImgPlace1" presStyleIdx="1" presStyleCnt="2"/>
      <dgm:spPr>
        <a:blipFill>
          <a:blip xmlns:r="http://schemas.openxmlformats.org/officeDocument/2006/relationships" r:embed="rId2"/>
          <a:srcRect/>
          <a:stretch>
            <a:fillRect l="-4000" r="-4000"/>
          </a:stretch>
        </a:blipFill>
      </dgm:spPr>
    </dgm:pt>
    <dgm:pt modelId="{CFFDF23F-D296-4CDF-8EE4-8A672559E207}" type="pres">
      <dgm:prSet presAssocID="{02A34BC0-F8BA-4A89-87A4-4F20079DFD06}" presName="text" presStyleLbl="node1" presStyleIdx="1" presStyleCnt="2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Juan Silva Sepúlveda</a:t>
          </a:r>
          <a:endParaRPr lang="es-CL" sz="40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 err="1"/>
            <a:t>Product</a:t>
          </a:r>
          <a:r>
            <a:rPr lang="es-MX" sz="3100" kern="1200" dirty="0"/>
            <a:t> </a:t>
          </a:r>
          <a:r>
            <a:rPr lang="es-MX" sz="3100" kern="1200" dirty="0" err="1"/>
            <a:t>Owner</a:t>
          </a:r>
          <a:endParaRPr lang="es-CL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/>
            <a:t>Funciones desempeñadas</a:t>
          </a:r>
          <a:endParaRPr lang="es-CL" sz="3100" kern="1200" dirty="0"/>
        </a:p>
      </dsp:txBody>
      <dsp:txXfrm>
        <a:off x="1733817" y="0"/>
        <a:ext cx="5899676" cy="2071186"/>
      </dsp:txXfrm>
    </dsp:sp>
    <dsp:sp modelId="{9A7E2690-DE9C-4572-9BE5-B8C9A3B8BBB3}">
      <dsp:nvSpPr>
        <dsp:cNvPr id="0" name=""/>
        <dsp:cNvSpPr/>
      </dsp:nvSpPr>
      <dsp:spPr>
        <a:xfrm>
          <a:off x="207118" y="207118"/>
          <a:ext cx="1526698" cy="16569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l="-4000" r="-4000"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2278305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Matías Reuque Barros</a:t>
          </a:r>
          <a:endParaRPr lang="es-CL" sz="40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/>
            <a:t>Scrum Master</a:t>
          </a:r>
          <a:endParaRPr lang="es-CL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/>
            <a:t>Funciones desempeñadas</a:t>
          </a:r>
          <a:endParaRPr lang="es-CL" sz="3100" kern="1200" dirty="0"/>
        </a:p>
      </dsp:txBody>
      <dsp:txXfrm>
        <a:off x="1733817" y="2278305"/>
        <a:ext cx="5899676" cy="2071186"/>
      </dsp:txXfrm>
    </dsp:sp>
    <dsp:sp modelId="{3F97C059-D720-4D48-953F-B84D04D0BF79}">
      <dsp:nvSpPr>
        <dsp:cNvPr id="0" name=""/>
        <dsp:cNvSpPr/>
      </dsp:nvSpPr>
      <dsp:spPr>
        <a:xfrm>
          <a:off x="207118" y="2485423"/>
          <a:ext cx="1526698" cy="16569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4000" r="-4000"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6541400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8339774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8585756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2256933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4026723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5456656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5344794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1497297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4148649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181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1480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39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3602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957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2988206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6853125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3453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transition spd="slow">
    <p:wipe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524484" y="2111805"/>
            <a:ext cx="4335468" cy="20849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kern="1200" dirty="0">
                <a:solidFill>
                  <a:schemeClr val="accent1"/>
                </a:solidFill>
                <a:latin typeface="Century Schoolbook" panose="02040604050505020304" pitchFamily="18" charset="0"/>
                <a:ea typeface="+mj-ea"/>
                <a:cs typeface="+mj-cs"/>
              </a:rPr>
              <a:t>PROYECTO SERVIHOGAR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kern="1200" dirty="0">
                <a:solidFill>
                  <a:schemeClr val="accent1"/>
                </a:solidFill>
                <a:latin typeface="Century Schoolbook" panose="02040604050505020304" pitchFamily="18" charset="0"/>
                <a:ea typeface="+mj-ea"/>
                <a:cs typeface="+mj-cs"/>
              </a:rPr>
              <a:t>PRESENTACIÓN FINAL CAPSTONE</a:t>
            </a:r>
          </a:p>
        </p:txBody>
      </p:sp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8" y="3154273"/>
            <a:ext cx="3280613" cy="820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11275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8352882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Logo de DuocUC Escuela de Informática y Telecomunicaciones con fondo transparente">
            <a:extLst>
              <a:ext uri="{FF2B5EF4-FFF2-40B4-BE49-F238E27FC236}">
                <a16:creationId xmlns:a16="http://schemas.microsoft.com/office/drawing/2014/main" id="{5BC367C9-A3AB-E4F4-3E75-DCA1344767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6" y="19758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</a:t>
            </a:r>
            <a:endParaRPr lang="es-MX" u="sng" dirty="0"/>
          </a:p>
          <a:p>
            <a:pPr algn="just"/>
            <a:r>
              <a:rPr lang="es-ES" dirty="0"/>
              <a:t>La contratación de servicios del hogar en Chile es mayoritariamente informal: no hay verificación clara de profesionales, los precios son poco transparentes y tanto clientes como trabajadores tienen baja confianza y visibilidad.</a:t>
            </a:r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/>
            <a:r>
              <a:rPr lang="es-ES" dirty="0" err="1"/>
              <a:t>ServiHogar</a:t>
            </a:r>
            <a:r>
              <a:rPr lang="es-ES" dirty="0"/>
              <a:t> es una plataforma web que conecta clientes con profesionales verificados, ofreciendo precios fijos, reservas y pagos en línea, y un sistema de calificaciones que asegura confianza y trazabilidad del servicio.</a:t>
            </a:r>
            <a:endParaRPr lang="es-MX" u="sng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3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-3" y="369467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Desarrollar una plataforma web que conecte a clientes con profesionales verificados de servicios para el hogar, automatizando reservas, pagos y evaluaciones, e incorporando Inteligencia de Negocios para gestionar y hacer crecer el negocio.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275909"/>
            <a:ext cx="10962967" cy="203171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s-ES" sz="1600" dirty="0"/>
              <a:t>Lograr al menos 500 profesionales verificados, 500 clientes activos y 1.000 servicios gestionados en las regiones priorizadas.​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Mantener calificación promedio mayor a 4,5 estrellas y al menos 92% de servicios completados.​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Reducir en 40% la gestión manual gracias a la automatización de reservas, verificaciones, pagos y notificaciones.​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Utilizar el módulo de Inteligencia de Negocios para monitorear métricas clave y apoyar decisiones de mejora y expansión durante el primer año.​</a:t>
            </a: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484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740143" y="1432655"/>
            <a:ext cx="2690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E3311CD-16D6-D722-7962-4D5DF881B096}"/>
              </a:ext>
            </a:extLst>
          </p:cNvPr>
          <p:cNvSpPr txBox="1"/>
          <p:nvPr/>
        </p:nvSpPr>
        <p:spPr>
          <a:xfrm>
            <a:off x="1601890" y="2078986"/>
            <a:ext cx="8987733" cy="452431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lvl="1"/>
            <a:r>
              <a:rPr lang="es-ES" sz="1600" dirty="0"/>
              <a:t>Plataforma web responsiva para gestionar servicios del hogar entre clientes y profesionales verificados en Chile.​</a:t>
            </a:r>
          </a:p>
          <a:p>
            <a:pPr lvl="1"/>
            <a:endParaRPr lang="es-ES" sz="1600" dirty="0"/>
          </a:p>
          <a:p>
            <a:pPr lvl="1"/>
            <a:r>
              <a:rPr lang="es-ES" sz="1600" dirty="0"/>
              <a:t>Cobertura inicial de tres servicios: gasfitería﻿, limpieza del hogar﻿ y jardinería﻿, con precio, disponibilidad y documentación configurables por cada uno.​</a:t>
            </a:r>
          </a:p>
          <a:p>
            <a:pPr lvl="1"/>
            <a:endParaRPr lang="es-ES" sz="1600" dirty="0"/>
          </a:p>
          <a:p>
            <a:pPr lvl="1"/>
            <a:r>
              <a:rPr lang="es-ES" sz="1600" dirty="0"/>
              <a:t>Flujo completo digital: registro y autenticación, verificación de antecedentes, búsqueda y reserva, pagos en línea con </a:t>
            </a:r>
            <a:r>
              <a:rPr lang="es-ES" sz="1600" dirty="0" err="1"/>
              <a:t>MercadoPago</a:t>
            </a:r>
            <a:r>
              <a:rPr lang="es-ES" sz="1600" dirty="0"/>
              <a:t> y sistema de reseñas.​</a:t>
            </a:r>
          </a:p>
          <a:p>
            <a:pPr lvl="1"/>
            <a:endParaRPr lang="es-ES" sz="1600" dirty="0"/>
          </a:p>
          <a:p>
            <a:pPr lvl="1"/>
            <a:r>
              <a:rPr lang="es-ES" sz="1600" dirty="0"/>
              <a:t>Panel administrativo con módulo de Inteligencia de Negocios para monitorear usuarios, servicios, ingresos, calidad y alertas operativas.</a:t>
            </a:r>
          </a:p>
          <a:p>
            <a:pPr lvl="1"/>
            <a:endParaRPr lang="es-ES" sz="1600" dirty="0"/>
          </a:p>
          <a:p>
            <a:pPr lvl="1"/>
            <a:r>
              <a:rPr lang="es-ES" sz="1600" dirty="0"/>
              <a:t>Solo versión web adaptable; no se desarrollan aplicaciones móviles nativas Android/iOS en esta fase.​</a:t>
            </a:r>
          </a:p>
          <a:p>
            <a:pPr lvl="1"/>
            <a:endParaRPr lang="es-ES" sz="1600" dirty="0"/>
          </a:p>
          <a:p>
            <a:pPr lvl="1"/>
            <a:r>
              <a:rPr lang="es-ES" sz="1600" dirty="0"/>
              <a:t>Enfoque exclusivo en el mercado chileno, sin multilenguaje ni soporte internacional.​</a:t>
            </a:r>
          </a:p>
          <a:p>
            <a:pPr lvl="1"/>
            <a:endParaRPr lang="es-ES" sz="1600" dirty="0"/>
          </a:p>
          <a:p>
            <a:pPr lvl="1"/>
            <a:r>
              <a:rPr lang="es-ES" sz="1600" dirty="0"/>
              <a:t>No incluye chat en tiempo real, campañas de correo automatizadas ni motores de recomendación basados en inteligencia artificial.</a:t>
            </a:r>
            <a:endParaRPr lang="es-CL" sz="1600" dirty="0"/>
          </a:p>
          <a:p>
            <a:endParaRPr lang="es-CL" sz="16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AF8EF1D-5CEF-6C44-5BB3-7E99539DEE39}"/>
              </a:ext>
            </a:extLst>
          </p:cNvPr>
          <p:cNvSpPr txBox="1"/>
          <p:nvPr/>
        </p:nvSpPr>
        <p:spPr>
          <a:xfrm>
            <a:off x="6941173" y="1432655"/>
            <a:ext cx="2969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Limitaciones</a:t>
            </a:r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6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496389" y="141063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F908992C-868A-909F-9CFB-86D74E48B5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0D44F8C-4DBE-4B7E-A098-FC4CC2997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11" y="3106783"/>
            <a:ext cx="6179278" cy="306932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37C1A00-A50A-1211-8B6C-4B29322C6709}"/>
              </a:ext>
            </a:extLst>
          </p:cNvPr>
          <p:cNvSpPr txBox="1"/>
          <p:nvPr/>
        </p:nvSpPr>
        <p:spPr>
          <a:xfrm>
            <a:off x="4175760" y="2084292"/>
            <a:ext cx="48332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Utilizamos Scrum, un enfoque ágil que organiza el trabajo en </a:t>
            </a:r>
            <a:r>
              <a:rPr lang="es-ES" dirty="0" err="1"/>
              <a:t>Sprints</a:t>
            </a:r>
            <a:r>
              <a:rPr lang="es-ES" dirty="0"/>
              <a:t> cortos para planificar, desarrollar y revisar incrementos del producto de forma iterativa y adaptable a cambios.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6239362" y="1107188"/>
            <a:ext cx="4023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Planificación Temporal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11810D6F-1C28-7459-E987-08FA1DCF1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505" y="805119"/>
            <a:ext cx="5690319" cy="590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481F9-04BF-7344-7C5C-DF34794A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2176E707-81E3-6979-7B2A-ACB9BCC7A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9FC5496-E3AA-7E97-E15B-014C307E7E50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72DF29C-05DA-D047-93C3-9504FC317D61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5D9721CA-1F8C-54EE-3F17-7E3E3330E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83" y="738260"/>
            <a:ext cx="5688745" cy="607264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DDEB99-CBA3-25E3-0E8C-E209945E4F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653"/>
          <a:stretch>
            <a:fillRect/>
          </a:stretch>
        </p:blipFill>
        <p:spPr>
          <a:xfrm>
            <a:off x="6366711" y="1023200"/>
            <a:ext cx="5580516" cy="464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0070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484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5524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8F426523-384D-50EA-C89D-F03029E50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933" y="1107188"/>
            <a:ext cx="7266133" cy="539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E24BF-1B50-734F-7732-89A015E1A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96BE9363-99E2-7A80-4619-36BA9240A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484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5A3958F-C3FD-F3B0-7717-F16219F70204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57D38C8-16A5-A167-1880-96A1B00CDCAE}"/>
              </a:ext>
            </a:extLst>
          </p:cNvPr>
          <p:cNvSpPr txBox="1"/>
          <p:nvPr/>
        </p:nvSpPr>
        <p:spPr>
          <a:xfrm>
            <a:off x="0" y="55359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 la solución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DCE23AA-D3F2-5773-8070-13629FF7B64C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391295D-723B-A727-3378-A0E33C7EB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257" y="1107188"/>
            <a:ext cx="5997484" cy="553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79198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909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74BDD7B6-6106-5575-3AA3-5FBE2CEE6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93" b="7296"/>
          <a:stretch>
            <a:fillRect/>
          </a:stretch>
        </p:blipFill>
        <p:spPr>
          <a:xfrm>
            <a:off x="881350" y="814209"/>
            <a:ext cx="10841007" cy="585367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759493" y="738260"/>
            <a:ext cx="3545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9060DAE-F493-0D10-110E-646FF061BBA1}"/>
              </a:ext>
            </a:extLst>
          </p:cNvPr>
          <p:cNvSpPr txBox="1"/>
          <p:nvPr/>
        </p:nvSpPr>
        <p:spPr>
          <a:xfrm>
            <a:off x="4105160" y="928821"/>
            <a:ext cx="1990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(16 </a:t>
            </a:r>
            <a:r>
              <a:rPr lang="en-US" sz="1600" dirty="0" err="1"/>
              <a:t>Tablas</a:t>
            </a:r>
            <a:r>
              <a:rPr lang="en-US" sz="1600" dirty="0"/>
              <a:t>)</a:t>
            </a:r>
            <a:endParaRPr lang="es-CL" sz="1600" dirty="0"/>
          </a:p>
        </p:txBody>
      </p:sp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88B2-6AA3-1958-1C37-1CDC925F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D9C95CE-0C1F-4557-3BA9-CA364A388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42" y="814209"/>
            <a:ext cx="10662391" cy="5639664"/>
          </a:xfrm>
          <a:prstGeom prst="rect">
            <a:avLst/>
          </a:prstGeom>
        </p:spPr>
      </p:pic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26525873-FFA7-A352-DBC2-0D8A24D64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909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0FA0E69-85D3-A92D-3D95-019F075BFFF4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9C26B29-2259-A146-D113-5E7BDCD126CF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3640F11-EA42-5D79-AD1F-518F4BFBF797}"/>
              </a:ext>
            </a:extLst>
          </p:cNvPr>
          <p:cNvSpPr txBox="1"/>
          <p:nvPr/>
        </p:nvSpPr>
        <p:spPr>
          <a:xfrm>
            <a:off x="737342" y="738260"/>
            <a:ext cx="3568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</p:spTree>
    <p:extLst>
      <p:ext uri="{BB962C8B-B14F-4D97-AF65-F5344CB8AC3E}">
        <p14:creationId xmlns:p14="http://schemas.microsoft.com/office/powerpoint/2010/main" val="4203596840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2568D-F298-4B40-D972-D8AB6E1FB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8A4074D-9358-6C08-B953-CA16D2C8B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06" y="966650"/>
            <a:ext cx="10731009" cy="5700849"/>
          </a:xfrm>
          <a:prstGeom prst="rect">
            <a:avLst/>
          </a:prstGeom>
        </p:spPr>
      </p:pic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B18ABFDC-82D5-AA27-FB8B-3F159E00B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909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4AAB943-ECE4-4996-221F-295D80EE723C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25B4E83-F735-37F2-BC24-3369DCE4AB72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A9D2E7BE-079F-4D48-79F0-BD77BB12BC3A}"/>
              </a:ext>
            </a:extLst>
          </p:cNvPr>
          <p:cNvSpPr txBox="1"/>
          <p:nvPr/>
        </p:nvSpPr>
        <p:spPr>
          <a:xfrm>
            <a:off x="737342" y="738260"/>
            <a:ext cx="3568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</p:spTree>
    <p:extLst>
      <p:ext uri="{BB962C8B-B14F-4D97-AF65-F5344CB8AC3E}">
        <p14:creationId xmlns:p14="http://schemas.microsoft.com/office/powerpoint/2010/main" val="216154106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6" y="347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Elementos Analíticos a Incorporar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3DC68D94-CD6A-2563-EED2-20A5DE5F8FDD}"/>
              </a:ext>
            </a:extLst>
          </p:cNvPr>
          <p:cNvSpPr txBox="1"/>
          <p:nvPr/>
        </p:nvSpPr>
        <p:spPr>
          <a:xfrm>
            <a:off x="2393432" y="2518739"/>
            <a:ext cx="76775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1. Conversión de visitas a reservas pagadas</a:t>
            </a:r>
            <a:br>
              <a:rPr lang="es-ES" dirty="0"/>
            </a:br>
            <a:r>
              <a:rPr lang="es-ES" dirty="0"/>
              <a:t>¿Cuál es la tasa de conversión desde visita al catálogo, por categoría de servicio y por región/comuna?</a:t>
            </a:r>
          </a:p>
          <a:p>
            <a:endParaRPr lang="es-CL" dirty="0"/>
          </a:p>
          <a:p>
            <a:r>
              <a:rPr lang="es-ES" dirty="0"/>
              <a:t>2. Desbalance entre oferta y demanda</a:t>
            </a:r>
            <a:br>
              <a:rPr lang="es-ES" dirty="0"/>
            </a:br>
            <a:r>
              <a:rPr lang="es-ES" dirty="0"/>
              <a:t>¿En qué categorías, regiones y comunas hay desbalance entre demanda (solicitudes creadas)</a:t>
            </a:r>
          </a:p>
          <a:p>
            <a:r>
              <a:rPr lang="es-ES" dirty="0"/>
              <a:t>y oferta (profesionales verificados disponibles y sus horarios)?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2147319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5FA7C-098C-1689-7A17-64C7F5A17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F88A31D8-6382-9BB0-3A81-CCCE2DC14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6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3F28A2F-07E0-EA9E-BBF7-306BFF0C6112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01F9C8-A4AB-7DAC-624E-541639D81399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Elementos Analíticos a Incorporar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4A954C8-4E51-4733-49BB-53089965E521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4DDBDCC9-0233-EE35-7CAB-D1AC34F27026}"/>
              </a:ext>
            </a:extLst>
          </p:cNvPr>
          <p:cNvSpPr txBox="1"/>
          <p:nvPr/>
        </p:nvSpPr>
        <p:spPr>
          <a:xfrm>
            <a:off x="2393432" y="2518739"/>
            <a:ext cx="76775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3. Calidad de servicio y recurrencia de clientes</a:t>
            </a:r>
            <a:br>
              <a:rPr lang="es-ES" dirty="0"/>
            </a:br>
            <a:r>
              <a:rPr lang="es-ES" dirty="0"/>
              <a:t>¿Cómo se relacionan las calificaciones promedio con la recurrencia de clientes, las cancelaciones y las disputas por categoría y región?​</a:t>
            </a:r>
          </a:p>
          <a:p>
            <a:endParaRPr lang="es-CL" dirty="0"/>
          </a:p>
          <a:p>
            <a:r>
              <a:rPr lang="es-ES" dirty="0"/>
              <a:t>4. Riesgos operacionales y de confianza</a:t>
            </a:r>
            <a:br>
              <a:rPr lang="es-ES" dirty="0"/>
            </a:br>
            <a:r>
              <a:rPr lang="es-ES" dirty="0"/>
              <a:t>¿Qué patrones se observan en disputas, cancelaciones tardías, rechazos de verificación y fallos de transferencia bancaria, segmentados por profesional, servicio y región?</a:t>
            </a:r>
          </a:p>
        </p:txBody>
      </p:sp>
    </p:spTree>
    <p:extLst>
      <p:ext uri="{BB962C8B-B14F-4D97-AF65-F5344CB8AC3E}">
        <p14:creationId xmlns:p14="http://schemas.microsoft.com/office/powerpoint/2010/main" val="572163738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6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90EF714B-4D66-0941-9376-A9E021414953}"/>
              </a:ext>
            </a:extLst>
          </p:cNvPr>
          <p:cNvSpPr txBox="1"/>
          <p:nvPr/>
        </p:nvSpPr>
        <p:spPr>
          <a:xfrm>
            <a:off x="2633205" y="2318606"/>
            <a:ext cx="34627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CL" b="1" dirty="0" err="1"/>
              <a:t>Backend</a:t>
            </a:r>
            <a:endParaRPr lang="es-CL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Python (Lenguaje)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Django (Framework)</a:t>
            </a:r>
          </a:p>
          <a:p>
            <a:pPr fontAlgn="base"/>
            <a:r>
              <a:rPr lang="es-CL" b="1" dirty="0"/>
              <a:t>Base de Datos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PostgreSQL (Gestor de data)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B3F51B-9A10-A6F1-39FD-86DEF295F4A9}"/>
              </a:ext>
            </a:extLst>
          </p:cNvPr>
          <p:cNvSpPr txBox="1"/>
          <p:nvPr/>
        </p:nvSpPr>
        <p:spPr>
          <a:xfrm>
            <a:off x="6232187" y="2317543"/>
            <a:ext cx="38697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CL" b="1" dirty="0" err="1"/>
              <a:t>Frontend</a:t>
            </a:r>
            <a:endParaRPr lang="es-CL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JavaScript/</a:t>
            </a:r>
            <a:r>
              <a:rPr lang="es-CL" dirty="0" err="1"/>
              <a:t>TypeScript</a:t>
            </a:r>
            <a:r>
              <a:rPr lang="es-CL" dirty="0"/>
              <a:t> (Lenguaje)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 err="1"/>
              <a:t>React</a:t>
            </a:r>
            <a:r>
              <a:rPr lang="es-CL" dirty="0"/>
              <a:t> (Framework)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 err="1"/>
              <a:t>React</a:t>
            </a:r>
            <a:r>
              <a:rPr lang="es-CL" dirty="0"/>
              <a:t> </a:t>
            </a:r>
            <a:r>
              <a:rPr lang="es-CL" dirty="0" err="1"/>
              <a:t>Router</a:t>
            </a:r>
            <a:endParaRPr lang="es-CL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 err="1"/>
              <a:t>Tailwind</a:t>
            </a:r>
            <a:r>
              <a:rPr lang="es-CL" dirty="0"/>
              <a:t> CSS (Biblioteca)</a:t>
            </a:r>
          </a:p>
          <a:p>
            <a:pPr fontAlgn="base"/>
            <a:r>
              <a:rPr lang="es-CL" b="1" dirty="0" err="1"/>
              <a:t>Deployment</a:t>
            </a:r>
            <a:endParaRPr lang="es-CL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Docker (Contenedores)</a:t>
            </a:r>
          </a:p>
        </p:txBody>
      </p:sp>
      <p:sp>
        <p:nvSpPr>
          <p:cNvPr id="8" name="AutoShape 2" descr="Django Icon Vector SVG Icon - SVG Repo">
            <a:extLst>
              <a:ext uri="{FF2B5EF4-FFF2-40B4-BE49-F238E27FC236}">
                <a16:creationId xmlns:a16="http://schemas.microsoft.com/office/drawing/2014/main" id="{6E1DB2D0-49DA-43E5-F31A-BDFC6839AF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28" name="Picture 4" descr="Django Python programación informática lenguaje de programación software,  logo de Python, texto, logo png | PNGEgg">
            <a:extLst>
              <a:ext uri="{FF2B5EF4-FFF2-40B4-BE49-F238E27FC236}">
                <a16:creationId xmlns:a16="http://schemas.microsoft.com/office/drawing/2014/main" id="{EC875DF6-0A72-F164-DC9B-FB5887F92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046" b="92241" l="7184" r="93391">
                        <a14:foregroundMark x1="49425" y1="29310" x2="49425" y2="29310"/>
                        <a14:foregroundMark x1="44540" y1="18966" x2="16667" y2="45115"/>
                        <a14:foregroundMark x1="16667" y1="45115" x2="17241" y2="67529"/>
                        <a14:foregroundMark x1="17241" y1="67529" x2="39368" y2="79310"/>
                        <a14:foregroundMark x1="39368" y1="79310" x2="59195" y2="83046"/>
                        <a14:foregroundMark x1="59195" y1="83046" x2="77299" y2="45977"/>
                        <a14:foregroundMark x1="77299" y1="45977" x2="75287" y2="19540"/>
                        <a14:foregroundMark x1="75287" y1="19540" x2="50575" y2="12069"/>
                        <a14:foregroundMark x1="50575" y1="12069" x2="30172" y2="17529"/>
                        <a14:foregroundMark x1="30172" y1="17529" x2="27586" y2="21552"/>
                        <a14:foregroundMark x1="76149" y1="50000" x2="62644" y2="82759"/>
                        <a14:foregroundMark x1="62644" y1="82759" x2="45690" y2="75575"/>
                        <a14:foregroundMark x1="45690" y1="75575" x2="46552" y2="36782"/>
                        <a14:foregroundMark x1="46552" y1="36782" x2="52299" y2="20690"/>
                        <a14:foregroundMark x1="52299" y1="20690" x2="72126" y2="40230"/>
                        <a14:foregroundMark x1="38218" y1="25575" x2="25000" y2="34195"/>
                        <a14:foregroundMark x1="25000" y1="34195" x2="16379" y2="61782"/>
                        <a14:foregroundMark x1="16379" y1="61782" x2="37356" y2="72989"/>
                        <a14:foregroundMark x1="37356" y1="72989" x2="47989" y2="48851"/>
                        <a14:foregroundMark x1="47989" y1="48851" x2="31322" y2="35057"/>
                        <a14:foregroundMark x1="31322" y1="35057" x2="20690" y2="34483"/>
                        <a14:foregroundMark x1="32759" y1="38793" x2="22701" y2="50000"/>
                        <a14:foregroundMark x1="22701" y1="50000" x2="24425" y2="74713"/>
                        <a14:foregroundMark x1="24425" y1="74713" x2="45115" y2="46552"/>
                        <a14:foregroundMark x1="45115" y1="46552" x2="26724" y2="34483"/>
                        <a14:foregroundMark x1="26724" y1="34483" x2="17529" y2="40517"/>
                        <a14:foregroundMark x1="56897" y1="32471" x2="50000" y2="49138"/>
                        <a14:foregroundMark x1="50000" y1="49138" x2="68966" y2="68391"/>
                        <a14:foregroundMark x1="68966" y1="68391" x2="73563" y2="42529"/>
                        <a14:foregroundMark x1="73563" y1="42529" x2="50575" y2="39943"/>
                        <a14:foregroundMark x1="50575" y1="39943" x2="45115" y2="46552"/>
                        <a14:foregroundMark x1="7471" y1="44828" x2="7471" y2="44828"/>
                        <a14:foregroundMark x1="66667" y1="25575" x2="66667" y2="25575"/>
                        <a14:foregroundMark x1="46552" y1="8046" x2="46552" y2="8046"/>
                        <a14:foregroundMark x1="64655" y1="30460" x2="64655" y2="30460"/>
                        <a14:foregroundMark x1="63793" y1="52299" x2="63793" y2="52299"/>
                        <a14:foregroundMark x1="26437" y1="60057" x2="26437" y2="60057"/>
                        <a14:foregroundMark x1="61782" y1="46839" x2="61782" y2="46839"/>
                        <a14:foregroundMark x1="67529" y1="51724" x2="67529" y2="51724"/>
                        <a14:foregroundMark x1="65805" y1="61494" x2="65805" y2="61494"/>
                        <a14:foregroundMark x1="93391" y1="47414" x2="93391" y2="47414"/>
                        <a14:foregroundMark x1="27299" y1="55747" x2="27299" y2="55747"/>
                        <a14:foregroundMark x1="49713" y1="92241" x2="49713" y2="922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925" y="4712340"/>
            <a:ext cx="1143544" cy="114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13842B7-9FE9-7FEF-26E4-CC1856DDF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994" y="4788914"/>
            <a:ext cx="1112820" cy="99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128365E-1901-AB7E-C5F0-9358473DA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339" y="4708264"/>
            <a:ext cx="1112820" cy="1147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ocker, logo, logos icon - Free download on Iconfinder">
            <a:extLst>
              <a:ext uri="{FF2B5EF4-FFF2-40B4-BE49-F238E27FC236}">
                <a16:creationId xmlns:a16="http://schemas.microsoft.com/office/drawing/2014/main" id="{0B927B12-F222-7F2B-657C-6E3482490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779" y="4625867"/>
            <a:ext cx="1230017" cy="1230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16300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6F6CAAE-EC76-296F-B375-0804B83679D6}"/>
              </a:ext>
            </a:extLst>
          </p:cNvPr>
          <p:cNvSpPr txBox="1"/>
          <p:nvPr/>
        </p:nvSpPr>
        <p:spPr>
          <a:xfrm>
            <a:off x="2334883" y="2018581"/>
            <a:ext cx="75222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resultado global del proyecto es positivo: como equipo se logró completar la mayor parte de los objetivos planteados y de los requerimientos de software definidos para </a:t>
            </a:r>
            <a:r>
              <a:rPr lang="es-ES" dirty="0" err="1"/>
              <a:t>ServiHogar</a:t>
            </a:r>
            <a:r>
              <a:rPr lang="es-ES" dirty="0"/>
              <a:t>.​</a:t>
            </a:r>
          </a:p>
          <a:p>
            <a:br>
              <a:rPr lang="es-ES" dirty="0"/>
            </a:br>
            <a:r>
              <a:rPr lang="es-ES" dirty="0"/>
              <a:t>Durante el desarrollo se fortaleció la propuesta inicial, ordenando mejor el alcance e implementando funcionalidades clave, dejando la plataforma en un estado de MVP funcional y listo para futuras mejoras técnicas y de negocio.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2464526" y="1055972"/>
            <a:ext cx="72629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E245AEB-497A-0BFA-5763-1CA781AB51C8}"/>
              </a:ext>
            </a:extLst>
          </p:cNvPr>
          <p:cNvSpPr txBox="1"/>
          <p:nvPr/>
        </p:nvSpPr>
        <p:spPr>
          <a:xfrm>
            <a:off x="2675626" y="2502522"/>
            <a:ext cx="68407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Curva de aprendizaje de nuevas tecnologías</a:t>
            </a:r>
          </a:p>
          <a:p>
            <a:endParaRPr lang="es-ES" dirty="0"/>
          </a:p>
          <a:p>
            <a:r>
              <a:rPr lang="es-ES" dirty="0"/>
              <a:t>Definir y acotar el alcance</a:t>
            </a:r>
          </a:p>
          <a:p>
            <a:endParaRPr lang="es-ES" dirty="0"/>
          </a:p>
          <a:p>
            <a:r>
              <a:rPr lang="es-ES" dirty="0"/>
              <a:t>Coordinación y comunicación del equipo</a:t>
            </a: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2508069" y="2521059"/>
            <a:ext cx="717586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*Exposición del sistema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420816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6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65955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Consultas y/o comentarios</a:t>
            </a:r>
          </a:p>
        </p:txBody>
      </p:sp>
      <p:pic>
        <p:nvPicPr>
          <p:cNvPr id="2" name="2 Imagen" descr="foto_preguntas.jpg">
            <a:extLst>
              <a:ext uri="{FF2B5EF4-FFF2-40B4-BE49-F238E27FC236}">
                <a16:creationId xmlns:a16="http://schemas.microsoft.com/office/drawing/2014/main" id="{C07605C8-4819-D34A-D1F9-3A0FE832071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24436" y="357470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1247</TotalTime>
  <Words>745</Words>
  <Application>Microsoft Office PowerPoint</Application>
  <PresentationFormat>Panorámica</PresentationFormat>
  <Paragraphs>94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Calibri</vt:lpstr>
      <vt:lpstr>Century Schoolbook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JUAN CRISTOPHER SILVA SEPULVEDA</cp:lastModifiedBy>
  <cp:revision>9</cp:revision>
  <dcterms:created xsi:type="dcterms:W3CDTF">2023-10-28T21:12:11Z</dcterms:created>
  <dcterms:modified xsi:type="dcterms:W3CDTF">2025-11-18T00:54:41Z</dcterms:modified>
</cp:coreProperties>
</file>